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618" autoAdjust="0"/>
  </p:normalViewPr>
  <p:slideViewPr>
    <p:cSldViewPr snapToGrid="0" snapToObjects="1">
      <p:cViewPr varScale="1">
        <p:scale>
          <a:sx n="75" d="100"/>
          <a:sy n="75" d="100"/>
        </p:scale>
        <p:origin x="9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271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focused on two Python benchmarks from pyperformance: Pyflate and MDP.,For each one, we first understood the computation and profiled the original implementation.,We then optimized the expensive parts, checked that the results stayed correct, and measured the improvement.,Finally, based on the remaining Pyflate bottleneck, we implemented a Huffman-decoding hardware accelerator.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optimize based only on reading the source code.,We used several tools because each one answers a different question.,pyperf gives reliable timing, flame graphs and cProfile tell us where the program spends time, and perf counters show whether we reduced executed work.,After every optimization, we verified correctness and used ablations to understand which changes mattered.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worked on two very different workloads.,Pyflate is dominated by bitstream processing and transformations used in decompression.,MDP builds a graph of possible states and repeatedly performs numerical updates over that graph.,This allowed us to examine both low-level data-processing overhead and higher-level Python data-structure overhead.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הרצנו על ה </a:t>
            </a:r>
            <a:r>
              <a:rPr lang="en-US" dirty="0" err="1"/>
              <a:t>pyflate</a:t>
            </a:r>
            <a:r>
              <a:rPr lang="he-IL" dirty="0"/>
              <a:t> את </a:t>
            </a:r>
            <a:r>
              <a:rPr lang="he-IL" dirty="0" err="1"/>
              <a:t>הפרופילינג</a:t>
            </a:r>
            <a:r>
              <a:rPr lang="he-IL" dirty="0"/>
              <a:t> של </a:t>
            </a:r>
            <a:r>
              <a:rPr lang="en-US" dirty="0" err="1"/>
              <a:t>cProfile</a:t>
            </a:r>
            <a:r>
              <a:rPr lang="en-US" dirty="0"/>
              <a:t>, flame graph</a:t>
            </a:r>
            <a:r>
              <a:rPr lang="he-IL" dirty="0"/>
              <a:t> בשביל להבין איפה מבזבזים הכי הרבה זמן. גילינו שזה ב:</a:t>
            </a:r>
          </a:p>
          <a:p>
            <a:pPr marL="171450" indent="-171450" algn="r" rtl="1">
              <a:buFont typeface="Arial" panose="020B0604020202020204" pitchFamily="34" charset="0"/>
              <a:buChar char="•"/>
            </a:pPr>
            <a:r>
              <a:rPr lang="en-US" dirty="0"/>
              <a:t>Huffman decoding</a:t>
            </a:r>
          </a:p>
          <a:p>
            <a:pPr marL="171450" indent="-171450" algn="r" rtl="1">
              <a:buFont typeface="Arial" panose="020B0604020202020204" pitchFamily="34" charset="0"/>
              <a:buChar char="•"/>
            </a:pPr>
            <a:r>
              <a:rPr lang="en-US" dirty="0"/>
              <a:t>Bit reading</a:t>
            </a:r>
          </a:p>
          <a:p>
            <a:pPr marL="171450" indent="-171450" algn="r" rtl="1">
              <a:buFont typeface="Arial" panose="020B0604020202020204" pitchFamily="34" charset="0"/>
              <a:buChar char="•"/>
            </a:pPr>
            <a:r>
              <a:rPr lang="en-US" dirty="0"/>
              <a:t>Move-to-front updates</a:t>
            </a:r>
          </a:p>
          <a:p>
            <a:pPr marL="171450" indent="-171450" algn="r" rtl="1">
              <a:buFont typeface="Arial" panose="020B0604020202020204" pitchFamily="34" charset="0"/>
              <a:buChar char="•"/>
            </a:pPr>
            <a:r>
              <a:rPr lang="en-US" dirty="0"/>
              <a:t>Run-length </a:t>
            </a:r>
            <a:r>
              <a:rPr lang="en-US" dirty="0" err="1"/>
              <a:t>expantion</a:t>
            </a:r>
            <a:endParaRPr lang="he-IL" dirty="0"/>
          </a:p>
          <a:p>
            <a:pPr marL="171450" indent="-171450" algn="r" rtl="1">
              <a:buFont typeface="Arial" panose="020B0604020202020204" pitchFamily="34" charset="0"/>
              <a:buChar char="•"/>
            </a:pPr>
            <a:endParaRPr lang="he-IL" dirty="0"/>
          </a:p>
          <a:p>
            <a:pPr marL="171450" indent="-171450" algn="r" rtl="1">
              <a:buFont typeface="Arial" panose="020B0604020202020204" pitchFamily="34" charset="0"/>
              <a:buChar char="•"/>
            </a:pPr>
            <a:endParaRPr lang="he-IL" dirty="0"/>
          </a:p>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strategy was to reduce repeated Python </a:t>
            </a:r>
            <a:r>
              <a:rPr lang="en-US" dirty="0" err="1"/>
              <a:t>work.,For</a:t>
            </a:r>
            <a:r>
              <a:rPr lang="en-US" dirty="0"/>
              <a:t> Huffman decoding, instead of searching Python objects representing candidate symbols, we exploit the canonical structure of Huffman </a:t>
            </a:r>
            <a:r>
              <a:rPr lang="en-US" dirty="0" err="1"/>
              <a:t>codes.,We</a:t>
            </a:r>
            <a:r>
              <a:rPr lang="en-US" dirty="0"/>
              <a:t> find the matching code length and compute the symbol index </a:t>
            </a:r>
            <a:r>
              <a:rPr lang="en-US" dirty="0" err="1"/>
              <a:t>directly.,The</a:t>
            </a:r>
            <a:r>
              <a:rPr lang="en-US" dirty="0"/>
              <a:t> remaining changes reduce file-interface calls, temporary list creation, Python loops and repeated lookups.</a:t>
            </a:r>
            <a:endParaRPr lang="he-IL" dirty="0"/>
          </a:p>
          <a:p>
            <a:endParaRPr lang="he-IL" dirty="0"/>
          </a:p>
          <a:p>
            <a:pPr algn="r" rtl="1"/>
            <a:r>
              <a:rPr lang="he-IL" dirty="0"/>
              <a:t>הדיאגרמה מדברת על ה </a:t>
            </a:r>
            <a:r>
              <a:rPr lang="en-US" dirty="0"/>
              <a:t>Huffman decoding</a:t>
            </a:r>
            <a:r>
              <a:rPr lang="he-IL" dirty="0"/>
              <a:t> ששיפרנו</a:t>
            </a:r>
          </a:p>
          <a:p>
            <a:pPr algn="r" rtl="1"/>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Pyflate became 2.34 times faster.,The ablations show that the speedup did not come from one change alone.,Reverting move-to-front or the final RLE optimization had especially large effects.,The ablation effects are conditional, so we should not simply add these numbers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MDP algorithm repeatedly sweeps over the same graph.,The main problem was how that graph was represented during repeated computation.,Values were stored in dictionaries keyed by complex nested state objects, so each lookup required hashing these structures.,We also discovered that one probability-distribution function was called thousands of times even though there were only three distinct inputs.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change was changing the representation used by the hot loop.,We still keep the same states and the same decision problem, but we number each state once.,After that, the repeated solver accesses integer-indexed lists instead of hashing complex objects.,We also precompute successor information and cache damage distributions that are requested repeatedly.</a:t>
            </a:r>
          </a:p>
          <a:p>
            <a:endParaRPr lang="en-US" dirty="0"/>
          </a:p>
          <a:p>
            <a:r>
              <a:rPr lang="en-US" b="1" dirty="0"/>
              <a:t>Explanation of the figure:</a:t>
            </a:r>
          </a:p>
          <a:p>
            <a:r>
              <a:rPr lang="" b="1" dirty="0"/>
              <a:t>Why it’s accurate:</a:t>
            </a:r>
            <a:r>
              <a:rPr lang="" dirty="0"/>
              <a:t> Originally, accessing state values requires hashing complex state keys and looking them up in dictionaries. The optimization assigns integer indices once and precomputes successor indices. Repeated sweeps then access Python lists directly, avoiding state hashing in the hot loop. Index </a:t>
            </a:r>
            <a:r>
              <a:rPr lang="" sz="1200" kern="1200" dirty="0">
                <a:solidFill>
                  <a:schemeClr val="tx1"/>
                </a:solidFill>
                <a:latin typeface="+mn-lt"/>
                <a:ea typeface="+mn-ea"/>
                <a:cs typeface="+mn-cs"/>
              </a:rPr>
              <a:t>7</a:t>
            </a:r>
            <a:r>
              <a:rPr lang="" dirty="0"/>
              <a:t> is illustrative.</a:t>
            </a:r>
          </a:p>
          <a:p>
            <a:r>
              <a:rPr lang="en-US" b="1" dirty="0"/>
              <a:t>W</a:t>
            </a:r>
            <a:r>
              <a:rPr lang="" b="1" dirty="0"/>
              <a:t>hat to say: </a:t>
            </a:r>
            <a:r>
              <a:rPr lang="" dirty="0"/>
              <a:t>The solver visits the same states repeatedly. Originally, each value lookup required hashing a complex state. We number the states once, then access their values directly by index. This preserves the computation while removing repeated lookup overhead.</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MDP had the larger speedup: almost four times faster.,The ablation clearly shows that the indexed representation and rewritten solver loop were the dominant improvement.,Memoizing repeated probability calculations also had a substantial effect, but less than changing the representation used inside every solver sweep.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benchmarks exceed the assignment's required improvement by a very large margin.,Pyflate runs in about 43 percent of its original time, while MDP runs in about 26 percent.,The perf measurements support the same interpretation: the optimized implementations execute much less work rather than relying on measurement noise or a different workload.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the hardware target after doing the software optimization.,Even after improving the Python decoder, Huffman decoding and its bit operations still represented roughly half of the optimized profile.,It is structurally suitable for hardware because the operation is repeated many times and mainly consists of bounded bit manipulations, comparisons and lookup operations.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bitreader receives compressed words and maintains a bit buffer.,The decoder looks at the upcoming prefix and checks the possible code lengths in parallel.,A priority encoder chooses the shortest valid Huffman code, and the symbol index is calculated using the canonical Huffman tables.,The RTL simulation reaches approximately one symbol per cycle when input and output are continuously available.,This demonstrates the datapath; the complete host/software integration is still proposed rather than measured end-to-end.</a:t>
            </a:r>
          </a:p>
          <a:p>
            <a:endParaRPr lang="en-US" dirty="0"/>
          </a:p>
          <a:p>
            <a:r>
              <a:rPr lang="en-US" b="1" dirty="0"/>
              <a:t>About the Figure:</a:t>
            </a:r>
          </a:p>
          <a:p>
            <a:endParaRPr lang="en-US" b="1" dirty="0"/>
          </a:p>
          <a:p>
            <a:r>
              <a:rPr lang="" b="1" dirty="0"/>
              <a:t>Why it’s accurate</a:t>
            </a:r>
            <a:endParaRPr lang="" dirty="0"/>
          </a:p>
          <a:p>
            <a:pPr lvl="0"/>
            <a:r>
              <a:rPr lang="" dirty="0"/>
              <a:t>The </a:t>
            </a:r>
            <a:r>
              <a:rPr lang="" b="1" dirty="0"/>
              <a:t>64-bit buffer</a:t>
            </a:r>
            <a:r>
              <a:rPr lang="" dirty="0"/>
              <a:t> receives 32-bit words and exposes a 20-bit prefix. </a:t>
            </a:r>
          </a:p>
          <a:p>
            <a:pPr lvl="0"/>
            <a:r>
              <a:rPr lang="" dirty="0"/>
              <a:t>The decoder checks possible code lengths </a:t>
            </a:r>
            <a:r>
              <a:rPr lang="" b="1" dirty="0"/>
              <a:t>in parallel</a:t>
            </a:r>
            <a:r>
              <a:rPr lang="" dirty="0"/>
              <a:t>, selects the shortest valid match, and looks up its symbol. </a:t>
            </a:r>
          </a:p>
          <a:p>
            <a:pPr lvl="0"/>
            <a:r>
              <a:rPr lang="" dirty="0"/>
              <a:t>The feedback arrow tells the buffer </a:t>
            </a:r>
            <a:r>
              <a:rPr lang="" b="1" dirty="0"/>
              <a:t>how many bits to consume</a:t>
            </a:r>
            <a:r>
              <a:rPr lang="" dirty="0"/>
              <a:t>, preparing the next code. </a:t>
            </a:r>
          </a:p>
          <a:p>
            <a:pPr lvl="0"/>
            <a:r>
              <a:rPr lang="" dirty="0"/>
              <a:t>Table programming and selection are external. The diagram does not imply that a host driver or DMA is implemented. </a:t>
            </a:r>
          </a:p>
          <a:p>
            <a:pPr lvl="0"/>
            <a:r>
              <a:rPr lang="" dirty="0"/>
              <a:t>Matching and symbol lookup are two conceptual parts of the same decoder module. Clock/reset and detailed status signals are omitted for clarity. </a:t>
            </a:r>
          </a:p>
          <a:p>
            <a:r>
              <a:rPr lang="" b="1" dirty="0"/>
              <a:t>What to say</a:t>
            </a:r>
            <a:endParaRPr lang="" dirty="0"/>
          </a:p>
          <a:p>
            <a:r>
              <a:rPr lang="" dirty="0"/>
              <a:t>“Compressed data enters a bit buffer. The decoder examines the next bits and checks all possible code lengths simultaneously. Once it finds a match, it looks up the symbol and tells the buffer how many bits to remove. This repeats for the next symbol. Tables are loaded and selected externally, while the remaining decompression stages stay in software.”</a:t>
            </a:r>
          </a:p>
          <a:p>
            <a:r>
              <a:rPr lang="" dirty="0"/>
              <a:t>Then add:</a:t>
            </a:r>
          </a:p>
          <a:p>
            <a:r>
              <a:rPr lang="" dirty="0"/>
              <a:t>“The datapath can sustain approximately one symbol per cycle under favorable conditions. That is simulation throughput—not a measured whole-program hardware speedup.”</a:t>
            </a: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EA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6355080"/>
            <a:ext cx="11201400" cy="0"/>
          </a:xfrm>
          <a:prstGeom prst="line">
            <a:avLst/>
          </a:prstGeom>
          <a:noFill/>
          <a:ln w="8890">
            <a:solidFill>
              <a:srgbClr val="D6DEE8"/>
            </a:solidFill>
            <a:prstDash val="solid"/>
          </a:ln>
        </p:spPr>
        <p:txBody>
          <a:bodyPr/>
          <a:lstStyle/>
          <a:p>
            <a:endParaRPr lang="LID4096"/>
          </a:p>
        </p:txBody>
      </p:sp>
      <p:sp>
        <p:nvSpPr>
          <p:cNvPr id="3" name="Text 1"/>
          <p:cNvSpPr/>
          <p:nvPr/>
        </p:nvSpPr>
        <p:spPr>
          <a:xfrm>
            <a:off x="566928" y="6437376"/>
            <a:ext cx="3657600" cy="219456"/>
          </a:xfrm>
          <a:prstGeom prst="rect">
            <a:avLst/>
          </a:prstGeom>
          <a:noFill/>
          <a:ln/>
        </p:spPr>
        <p:txBody>
          <a:bodyPr wrap="square" lIns="0" tIns="0" rIns="0" bIns="0" rtlCol="0" anchor="ctr"/>
          <a:lstStyle/>
          <a:p>
            <a:pPr marL="0" indent="0">
              <a:buNone/>
            </a:pPr>
            <a:r>
              <a:rPr lang="en-US" sz="750" dirty="0">
                <a:solidFill>
                  <a:srgbClr val="7A8594"/>
                </a:solidFill>
                <a:latin typeface="Aptos" pitchFamily="34" charset="0"/>
                <a:ea typeface="Aptos" pitchFamily="34" charset="-122"/>
                <a:cs typeface="Aptos" pitchFamily="34" charset="-120"/>
              </a:rPr>
              <a:t>HW/SW Co-Design Project</a:t>
            </a:r>
            <a:endParaRPr lang="en-US" sz="75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7324D"/>
          </a:solidFill>
          <a:ln w="12700">
            <a:solidFill>
              <a:srgbClr val="17324D">
                <a:alpha val="0"/>
              </a:srgbClr>
            </a:solidFill>
            <a:prstDash val="solid"/>
          </a:ln>
        </p:spPr>
        <p:txBody>
          <a:bodyPr/>
          <a:lstStyle/>
          <a:p>
            <a:endParaRPr lang="LID4096"/>
          </a:p>
        </p:txBody>
      </p:sp>
      <p:sp>
        <p:nvSpPr>
          <p:cNvPr id="3" name="Text 1"/>
          <p:cNvSpPr/>
          <p:nvPr/>
        </p:nvSpPr>
        <p:spPr>
          <a:xfrm>
            <a:off x="685800" y="960120"/>
            <a:ext cx="6949440" cy="502920"/>
          </a:xfrm>
          <a:prstGeom prst="rect">
            <a:avLst/>
          </a:prstGeom>
          <a:noFill/>
          <a:ln/>
        </p:spPr>
        <p:txBody>
          <a:bodyPr wrap="square" lIns="0" tIns="0" rIns="0" bIns="0" rtlCol="0" anchor="ctr"/>
          <a:lstStyle/>
          <a:p>
            <a:pPr marL="0" indent="0">
              <a:buNone/>
            </a:pPr>
            <a:r>
              <a:rPr lang="en-US" sz="3500" b="1" dirty="0">
                <a:solidFill>
                  <a:srgbClr val="17324D"/>
                </a:solidFill>
              </a:rPr>
              <a:t>HW/SW Co-Design  Project</a:t>
            </a:r>
            <a:endParaRPr lang="en-US" sz="3500" dirty="0"/>
          </a:p>
        </p:txBody>
      </p:sp>
      <p:sp>
        <p:nvSpPr>
          <p:cNvPr id="4" name="Text 2"/>
          <p:cNvSpPr/>
          <p:nvPr/>
        </p:nvSpPr>
        <p:spPr>
          <a:xfrm>
            <a:off x="704088" y="1572767"/>
            <a:ext cx="7772400" cy="502911"/>
          </a:xfrm>
          <a:prstGeom prst="rect">
            <a:avLst/>
          </a:prstGeom>
          <a:noFill/>
          <a:ln/>
        </p:spPr>
        <p:txBody>
          <a:bodyPr wrap="square" lIns="0" tIns="0" rIns="0" bIns="0" rtlCol="0" anchor="ctr"/>
          <a:lstStyle/>
          <a:p>
            <a:pPr marL="0" indent="0">
              <a:buNone/>
            </a:pPr>
            <a:r>
              <a:rPr lang="en-US" sz="1700" dirty="0">
                <a:solidFill>
                  <a:srgbClr val="607083"/>
                </a:solidFill>
              </a:rPr>
              <a:t>Mohamad Assi</a:t>
            </a:r>
          </a:p>
          <a:p>
            <a:pPr marL="0" indent="0">
              <a:buNone/>
            </a:pPr>
            <a:r>
              <a:rPr lang="en-US" sz="1700" dirty="0">
                <a:solidFill>
                  <a:srgbClr val="607083"/>
                </a:solidFill>
              </a:rPr>
              <a:t>Ido Sefi</a:t>
            </a:r>
            <a:endParaRPr lang="en-US" sz="1700" dirty="0"/>
          </a:p>
        </p:txBody>
      </p:sp>
      <p:sp>
        <p:nvSpPr>
          <p:cNvPr id="19" name="Text 17"/>
          <p:cNvSpPr/>
          <p:nvPr/>
        </p:nvSpPr>
        <p:spPr>
          <a:xfrm>
            <a:off x="685800" y="5737860"/>
            <a:ext cx="6400800" cy="320040"/>
          </a:xfrm>
          <a:prstGeom prst="rect">
            <a:avLst/>
          </a:prstGeom>
          <a:noFill/>
          <a:ln/>
        </p:spPr>
        <p:txBody>
          <a:bodyPr wrap="square" lIns="0" tIns="0" rIns="0" bIns="0" rtlCol="0" anchor="ctr"/>
          <a:lstStyle/>
          <a:p>
            <a:pPr marL="0" indent="0">
              <a:buNone/>
            </a:pPr>
            <a:r>
              <a:rPr lang="en-US" sz="1600" b="1" dirty="0">
                <a:solidFill>
                  <a:srgbClr val="1F2937"/>
                </a:solidFill>
              </a:rPr>
              <a:t>Benchmarks: Pyflate and MDP</a:t>
            </a:r>
            <a:endParaRPr lang="en-US" sz="160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Evaluation Methodology</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594360" y="1024128"/>
            <a:ext cx="10789920" cy="274320"/>
          </a:xfrm>
          <a:prstGeom prst="rect">
            <a:avLst/>
          </a:prstGeom>
          <a:noFill/>
          <a:ln/>
        </p:spPr>
        <p:txBody>
          <a:bodyPr wrap="square" lIns="0" tIns="0" rIns="0" bIns="0" rtlCol="0" anchor="ctr"/>
          <a:lstStyle/>
          <a:p>
            <a:pPr marL="0" indent="0">
              <a:buNone/>
            </a:pPr>
            <a:r>
              <a:rPr lang="en-US" sz="1150" dirty="0">
                <a:solidFill>
                  <a:srgbClr val="607083"/>
                </a:solidFill>
              </a:rPr>
              <a:t>Each tool answers a different question.</a:t>
            </a:r>
            <a:endParaRPr lang="en-US" sz="1150" dirty="0"/>
          </a:p>
        </p:txBody>
      </p:sp>
      <p:sp>
        <p:nvSpPr>
          <p:cNvPr id="5" name="Shape 3"/>
          <p:cNvSpPr/>
          <p:nvPr/>
        </p:nvSpPr>
        <p:spPr>
          <a:xfrm>
            <a:off x="2646274" y="1792224"/>
            <a:ext cx="246888" cy="0"/>
          </a:xfrm>
          <a:prstGeom prst="line">
            <a:avLst/>
          </a:prstGeom>
          <a:noFill/>
          <a:ln w="15240">
            <a:solidFill>
              <a:srgbClr val="8FA3BF"/>
            </a:solidFill>
            <a:prstDash val="solid"/>
            <a:headEnd type="none"/>
            <a:tailEnd type="triangle"/>
          </a:ln>
        </p:spPr>
        <p:txBody>
          <a:bodyPr/>
          <a:lstStyle/>
          <a:p>
            <a:endParaRPr lang="LID4096"/>
          </a:p>
        </p:txBody>
      </p:sp>
      <p:sp>
        <p:nvSpPr>
          <p:cNvPr id="6" name="Shape 4"/>
          <p:cNvSpPr/>
          <p:nvPr/>
        </p:nvSpPr>
        <p:spPr>
          <a:xfrm>
            <a:off x="4853635" y="1792224"/>
            <a:ext cx="246888" cy="0"/>
          </a:xfrm>
          <a:prstGeom prst="line">
            <a:avLst/>
          </a:prstGeom>
          <a:noFill/>
          <a:ln w="15240">
            <a:solidFill>
              <a:srgbClr val="8FA3BF"/>
            </a:solidFill>
            <a:prstDash val="solid"/>
            <a:headEnd type="none"/>
            <a:tailEnd type="triangle"/>
          </a:ln>
        </p:spPr>
        <p:txBody>
          <a:bodyPr/>
          <a:lstStyle/>
          <a:p>
            <a:endParaRPr lang="LID4096"/>
          </a:p>
        </p:txBody>
      </p:sp>
      <p:sp>
        <p:nvSpPr>
          <p:cNvPr id="7" name="Shape 5"/>
          <p:cNvSpPr/>
          <p:nvPr/>
        </p:nvSpPr>
        <p:spPr>
          <a:xfrm>
            <a:off x="7060997" y="1792224"/>
            <a:ext cx="246888" cy="0"/>
          </a:xfrm>
          <a:prstGeom prst="line">
            <a:avLst/>
          </a:prstGeom>
          <a:noFill/>
          <a:ln w="15240">
            <a:solidFill>
              <a:srgbClr val="8FA3BF"/>
            </a:solidFill>
            <a:prstDash val="solid"/>
            <a:headEnd type="none"/>
            <a:tailEnd type="triangle"/>
          </a:ln>
        </p:spPr>
        <p:txBody>
          <a:bodyPr/>
          <a:lstStyle/>
          <a:p>
            <a:endParaRPr lang="LID4096"/>
          </a:p>
        </p:txBody>
      </p:sp>
      <p:sp>
        <p:nvSpPr>
          <p:cNvPr id="8" name="Shape 6"/>
          <p:cNvSpPr/>
          <p:nvPr/>
        </p:nvSpPr>
        <p:spPr>
          <a:xfrm>
            <a:off x="9268358" y="1792224"/>
            <a:ext cx="246888" cy="0"/>
          </a:xfrm>
          <a:prstGeom prst="line">
            <a:avLst/>
          </a:prstGeom>
          <a:noFill/>
          <a:ln w="15240">
            <a:solidFill>
              <a:srgbClr val="8FA3BF"/>
            </a:solidFill>
            <a:prstDash val="solid"/>
            <a:headEnd type="none"/>
            <a:tailEnd type="triangle"/>
          </a:ln>
        </p:spPr>
        <p:txBody>
          <a:bodyPr/>
          <a:lstStyle/>
          <a:p>
            <a:endParaRPr lang="LID4096"/>
          </a:p>
        </p:txBody>
      </p:sp>
      <p:sp>
        <p:nvSpPr>
          <p:cNvPr id="9" name="Shape 7"/>
          <p:cNvSpPr/>
          <p:nvPr/>
        </p:nvSpPr>
        <p:spPr>
          <a:xfrm>
            <a:off x="685800" y="1508760"/>
            <a:ext cx="1960474" cy="566928"/>
          </a:xfrm>
          <a:prstGeom prst="roundRect">
            <a:avLst>
              <a:gd name="adj" fmla="val 11290"/>
            </a:avLst>
          </a:prstGeom>
          <a:solidFill>
            <a:srgbClr val="FFFFFF"/>
          </a:solidFill>
          <a:ln w="12700">
            <a:solidFill>
              <a:srgbClr val="D6DEE8"/>
            </a:solidFill>
            <a:prstDash val="solid"/>
          </a:ln>
        </p:spPr>
        <p:txBody>
          <a:bodyPr/>
          <a:lstStyle/>
          <a:p>
            <a:endParaRPr lang="LID4096"/>
          </a:p>
        </p:txBody>
      </p:sp>
      <p:sp>
        <p:nvSpPr>
          <p:cNvPr id="10" name="Text 8"/>
          <p:cNvSpPr/>
          <p:nvPr/>
        </p:nvSpPr>
        <p:spPr>
          <a:xfrm>
            <a:off x="758952" y="1655064"/>
            <a:ext cx="1814170" cy="347472"/>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1F2937"/>
                </a:solidFill>
              </a:rPr>
              <a:t>Runtime</a:t>
            </a:r>
            <a:endParaRPr lang="en-US" sz="1200" dirty="0"/>
          </a:p>
          <a:p>
            <a:pPr marL="0" indent="0" algn="ctr">
              <a:buNone/>
            </a:pPr>
            <a:r>
              <a:rPr lang="en-US" sz="1200" b="1" dirty="0">
                <a:solidFill>
                  <a:srgbClr val="1F2937"/>
                </a:solidFill>
              </a:rPr>
              <a:t>pyperf</a:t>
            </a:r>
            <a:endParaRPr lang="en-US" sz="1200" dirty="0"/>
          </a:p>
        </p:txBody>
      </p:sp>
      <p:sp>
        <p:nvSpPr>
          <p:cNvPr id="11" name="Shape 9"/>
          <p:cNvSpPr/>
          <p:nvPr/>
        </p:nvSpPr>
        <p:spPr>
          <a:xfrm>
            <a:off x="2893162" y="1508760"/>
            <a:ext cx="1960474" cy="566928"/>
          </a:xfrm>
          <a:prstGeom prst="roundRect">
            <a:avLst>
              <a:gd name="adj" fmla="val 11290"/>
            </a:avLst>
          </a:prstGeom>
          <a:solidFill>
            <a:srgbClr val="FFFFFF"/>
          </a:solidFill>
          <a:ln w="12700">
            <a:solidFill>
              <a:srgbClr val="D6DEE8"/>
            </a:solidFill>
            <a:prstDash val="solid"/>
          </a:ln>
        </p:spPr>
        <p:txBody>
          <a:bodyPr/>
          <a:lstStyle/>
          <a:p>
            <a:endParaRPr lang="LID4096"/>
          </a:p>
        </p:txBody>
      </p:sp>
      <p:sp>
        <p:nvSpPr>
          <p:cNvPr id="12" name="Text 10"/>
          <p:cNvSpPr/>
          <p:nvPr/>
        </p:nvSpPr>
        <p:spPr>
          <a:xfrm>
            <a:off x="2966314" y="1655064"/>
            <a:ext cx="1814170" cy="347472"/>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1F2937"/>
                </a:solidFill>
              </a:rPr>
              <a:t>Hotspots</a:t>
            </a:r>
            <a:endParaRPr lang="en-US" sz="1200" dirty="0"/>
          </a:p>
          <a:p>
            <a:pPr marL="0" indent="0" algn="ctr">
              <a:buNone/>
            </a:pPr>
            <a:r>
              <a:rPr lang="en-US" sz="1200" b="1" dirty="0">
                <a:solidFill>
                  <a:srgbClr val="1F2937"/>
                </a:solidFill>
              </a:rPr>
              <a:t>flame graphs</a:t>
            </a:r>
            <a:endParaRPr lang="en-US" sz="1200" dirty="0"/>
          </a:p>
        </p:txBody>
      </p:sp>
      <p:sp>
        <p:nvSpPr>
          <p:cNvPr id="13" name="Shape 11"/>
          <p:cNvSpPr/>
          <p:nvPr/>
        </p:nvSpPr>
        <p:spPr>
          <a:xfrm>
            <a:off x="5100523" y="1508760"/>
            <a:ext cx="1960474" cy="566928"/>
          </a:xfrm>
          <a:prstGeom prst="roundRect">
            <a:avLst>
              <a:gd name="adj" fmla="val 11290"/>
            </a:avLst>
          </a:prstGeom>
          <a:solidFill>
            <a:srgbClr val="FFFFFF"/>
          </a:solidFill>
          <a:ln w="12700">
            <a:solidFill>
              <a:srgbClr val="D6DEE8"/>
            </a:solidFill>
            <a:prstDash val="solid"/>
          </a:ln>
        </p:spPr>
        <p:txBody>
          <a:bodyPr/>
          <a:lstStyle/>
          <a:p>
            <a:endParaRPr lang="LID4096"/>
          </a:p>
        </p:txBody>
      </p:sp>
      <p:sp>
        <p:nvSpPr>
          <p:cNvPr id="14" name="Text 12"/>
          <p:cNvSpPr/>
          <p:nvPr/>
        </p:nvSpPr>
        <p:spPr>
          <a:xfrm>
            <a:off x="5173675" y="1655064"/>
            <a:ext cx="1814170" cy="347472"/>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1F2937"/>
                </a:solidFill>
              </a:rPr>
              <a:t>Calls</a:t>
            </a:r>
            <a:endParaRPr lang="en-US" sz="1200" dirty="0"/>
          </a:p>
          <a:p>
            <a:pPr marL="0" indent="0" algn="ctr">
              <a:buNone/>
            </a:pPr>
            <a:r>
              <a:rPr lang="en-US" sz="1200" b="1" dirty="0">
                <a:solidFill>
                  <a:srgbClr val="1F2937"/>
                </a:solidFill>
              </a:rPr>
              <a:t>cProfile</a:t>
            </a:r>
            <a:endParaRPr lang="en-US" sz="1200" dirty="0"/>
          </a:p>
        </p:txBody>
      </p:sp>
      <p:sp>
        <p:nvSpPr>
          <p:cNvPr id="15" name="Shape 13"/>
          <p:cNvSpPr/>
          <p:nvPr/>
        </p:nvSpPr>
        <p:spPr>
          <a:xfrm>
            <a:off x="7307885" y="1508760"/>
            <a:ext cx="1960474" cy="566928"/>
          </a:xfrm>
          <a:prstGeom prst="roundRect">
            <a:avLst>
              <a:gd name="adj" fmla="val 11290"/>
            </a:avLst>
          </a:prstGeom>
          <a:solidFill>
            <a:srgbClr val="FFFFFF"/>
          </a:solidFill>
          <a:ln w="12700">
            <a:solidFill>
              <a:srgbClr val="D6DEE8"/>
            </a:solidFill>
            <a:prstDash val="solid"/>
          </a:ln>
        </p:spPr>
        <p:txBody>
          <a:bodyPr/>
          <a:lstStyle/>
          <a:p>
            <a:endParaRPr lang="LID4096"/>
          </a:p>
        </p:txBody>
      </p:sp>
      <p:sp>
        <p:nvSpPr>
          <p:cNvPr id="16" name="Text 14"/>
          <p:cNvSpPr/>
          <p:nvPr/>
        </p:nvSpPr>
        <p:spPr>
          <a:xfrm>
            <a:off x="7381037" y="1655064"/>
            <a:ext cx="1814170" cy="347472"/>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1F2937"/>
                </a:solidFill>
              </a:rPr>
              <a:t>CPU work</a:t>
            </a:r>
            <a:endParaRPr lang="en-US" sz="1200" dirty="0"/>
          </a:p>
          <a:p>
            <a:pPr marL="0" indent="0" algn="ctr">
              <a:buNone/>
            </a:pPr>
            <a:r>
              <a:rPr lang="en-US" sz="1200" b="1" dirty="0">
                <a:solidFill>
                  <a:srgbClr val="1F2937"/>
                </a:solidFill>
              </a:rPr>
              <a:t>perf stat</a:t>
            </a:r>
            <a:endParaRPr lang="en-US" sz="1200" dirty="0"/>
          </a:p>
        </p:txBody>
      </p:sp>
      <p:sp>
        <p:nvSpPr>
          <p:cNvPr id="17" name="Shape 15"/>
          <p:cNvSpPr/>
          <p:nvPr/>
        </p:nvSpPr>
        <p:spPr>
          <a:xfrm>
            <a:off x="9515246" y="1508760"/>
            <a:ext cx="1960474" cy="566928"/>
          </a:xfrm>
          <a:prstGeom prst="roundRect">
            <a:avLst>
              <a:gd name="adj" fmla="val 11290"/>
            </a:avLst>
          </a:prstGeom>
          <a:solidFill>
            <a:srgbClr val="FFFFFF"/>
          </a:solidFill>
          <a:ln w="12700">
            <a:solidFill>
              <a:srgbClr val="D6DEE8"/>
            </a:solidFill>
            <a:prstDash val="solid"/>
          </a:ln>
        </p:spPr>
        <p:txBody>
          <a:bodyPr/>
          <a:lstStyle/>
          <a:p>
            <a:endParaRPr lang="LID4096"/>
          </a:p>
        </p:txBody>
      </p:sp>
      <p:sp>
        <p:nvSpPr>
          <p:cNvPr id="18" name="Text 16"/>
          <p:cNvSpPr/>
          <p:nvPr/>
        </p:nvSpPr>
        <p:spPr>
          <a:xfrm>
            <a:off x="9588398" y="1655064"/>
            <a:ext cx="1814170" cy="347472"/>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1F2937"/>
                </a:solidFill>
              </a:rPr>
              <a:t>Validation</a:t>
            </a:r>
            <a:endParaRPr lang="en-US" sz="1200" dirty="0"/>
          </a:p>
          <a:p>
            <a:pPr marL="0" indent="0" algn="ctr">
              <a:buNone/>
            </a:pPr>
            <a:r>
              <a:rPr lang="en-US" sz="1200" b="1" dirty="0">
                <a:solidFill>
                  <a:srgbClr val="1F2937"/>
                </a:solidFill>
              </a:rPr>
              <a:t>checks</a:t>
            </a:r>
            <a:endParaRPr lang="en-US" sz="1200" dirty="0"/>
          </a:p>
        </p:txBody>
      </p:sp>
      <p:sp>
        <p:nvSpPr>
          <p:cNvPr id="19" name="Text 17"/>
          <p:cNvSpPr/>
          <p:nvPr/>
        </p:nvSpPr>
        <p:spPr>
          <a:xfrm>
            <a:off x="932688" y="2788920"/>
            <a:ext cx="7498080" cy="2377440"/>
          </a:xfrm>
          <a:prstGeom prst="rect">
            <a:avLst/>
          </a:prstGeom>
          <a:noFill/>
          <a:ln/>
        </p:spPr>
        <p:txBody>
          <a:bodyPr wrap="square" lIns="254" tIns="254" rIns="254" bIns="254" rtlCol="0" anchor="t">
            <a:normAutofit/>
          </a:bodyPr>
          <a:lstStyle/>
          <a:p>
            <a:pPr marL="177800" indent="-177800">
              <a:buSzPct val="100000"/>
              <a:buChar char="•"/>
            </a:pPr>
            <a:r>
              <a:rPr lang="en-US" sz="1650" dirty="0">
                <a:solidFill>
                  <a:srgbClr val="1F2937"/>
                </a:solidFill>
                <a:latin typeface="Aptos" pitchFamily="34" charset="0"/>
                <a:ea typeface="Aptos" pitchFamily="34" charset="-122"/>
                <a:cs typeface="Aptos" pitchFamily="34" charset="-120"/>
              </a:rPr>
              <a:t>Repeated timing for baseline and optimized implementations</a:t>
            </a:r>
            <a:endParaRPr lang="en-US" sz="1650" dirty="0"/>
          </a:p>
          <a:p>
            <a:pPr marL="177800" indent="-177800">
              <a:buSzPct val="100000"/>
              <a:buChar char="•"/>
            </a:pPr>
            <a:r>
              <a:rPr lang="en-US" sz="1650" dirty="0">
                <a:solidFill>
                  <a:srgbClr val="1F2937"/>
                </a:solidFill>
                <a:latin typeface="Aptos" pitchFamily="34" charset="0"/>
                <a:ea typeface="Aptos" pitchFamily="34" charset="-122"/>
                <a:cs typeface="Aptos" pitchFamily="34" charset="-120"/>
              </a:rPr>
              <a:t>Python-level sampling and flame graphs to locate hotspots</a:t>
            </a:r>
            <a:endParaRPr lang="en-US" sz="1650" dirty="0"/>
          </a:p>
          <a:p>
            <a:pPr marL="177800" indent="-177800">
              <a:buSzPct val="100000"/>
              <a:buChar char="•"/>
            </a:pPr>
            <a:r>
              <a:rPr lang="en-US" sz="1650" dirty="0">
                <a:solidFill>
                  <a:srgbClr val="1F2937"/>
                </a:solidFill>
                <a:latin typeface="Aptos" pitchFamily="34" charset="0"/>
                <a:ea typeface="Aptos" pitchFamily="34" charset="-122"/>
                <a:cs typeface="Aptos" pitchFamily="34" charset="-120"/>
              </a:rPr>
              <a:t>Function-level call counts and cumulative/self timing</a:t>
            </a:r>
            <a:endParaRPr lang="en-US" sz="1650" dirty="0"/>
          </a:p>
          <a:p>
            <a:pPr marL="177800" indent="-177800">
              <a:buSzPct val="100000"/>
              <a:buChar char="•"/>
            </a:pPr>
            <a:r>
              <a:rPr lang="en-US" sz="1650" dirty="0">
                <a:solidFill>
                  <a:srgbClr val="1F2937"/>
                </a:solidFill>
                <a:latin typeface="Aptos" pitchFamily="34" charset="0"/>
                <a:ea typeface="Aptos" pitchFamily="34" charset="-122"/>
                <a:cs typeface="Aptos" pitchFamily="34" charset="-120"/>
              </a:rPr>
              <a:t>Processor counters: instructions and cycles</a:t>
            </a:r>
            <a:endParaRPr lang="en-US" sz="1650" dirty="0"/>
          </a:p>
          <a:p>
            <a:pPr marL="177800" indent="-177800">
              <a:buSzPct val="100000"/>
              <a:buChar char="•"/>
            </a:pPr>
            <a:r>
              <a:rPr lang="en-US" sz="1650" dirty="0">
                <a:solidFill>
                  <a:srgbClr val="1F2937"/>
                </a:solidFill>
                <a:latin typeface="Aptos" pitchFamily="34" charset="0"/>
                <a:ea typeface="Aptos" pitchFamily="34" charset="-122"/>
                <a:cs typeface="Aptos" pitchFamily="34" charset="-120"/>
              </a:rPr>
              <a:t>Correctness checks and ablations after optimization</a:t>
            </a:r>
            <a:endParaRPr lang="en-US" sz="165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Selected Benchmarks</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594360" y="1024128"/>
            <a:ext cx="10789920" cy="274320"/>
          </a:xfrm>
          <a:prstGeom prst="rect">
            <a:avLst/>
          </a:prstGeom>
          <a:noFill/>
          <a:ln/>
        </p:spPr>
        <p:txBody>
          <a:bodyPr wrap="square" lIns="0" tIns="0" rIns="0" bIns="0" rtlCol="0" anchor="ctr"/>
          <a:lstStyle/>
          <a:p>
            <a:pPr marL="0" indent="0">
              <a:buNone/>
            </a:pPr>
            <a:r>
              <a:rPr lang="en-US" sz="1150" dirty="0">
                <a:solidFill>
                  <a:srgbClr val="607083"/>
                </a:solidFill>
              </a:rPr>
              <a:t>Two different workloads, two different kinds of Python overhead.</a:t>
            </a:r>
            <a:endParaRPr lang="en-US" sz="1150" dirty="0"/>
          </a:p>
        </p:txBody>
      </p:sp>
      <p:sp>
        <p:nvSpPr>
          <p:cNvPr id="5" name="Text 3"/>
          <p:cNvSpPr/>
          <p:nvPr/>
        </p:nvSpPr>
        <p:spPr>
          <a:xfrm>
            <a:off x="777240" y="1417320"/>
            <a:ext cx="4937760" cy="320040"/>
          </a:xfrm>
          <a:prstGeom prst="rect">
            <a:avLst/>
          </a:prstGeom>
          <a:noFill/>
          <a:ln/>
        </p:spPr>
        <p:txBody>
          <a:bodyPr wrap="square" lIns="0" tIns="0" rIns="0" bIns="0" rtlCol="0" anchor="ctr"/>
          <a:lstStyle/>
          <a:p>
            <a:pPr marL="0" indent="0">
              <a:buNone/>
            </a:pPr>
            <a:r>
              <a:rPr lang="en-US" sz="1600" b="1" dirty="0">
                <a:solidFill>
                  <a:srgbClr val="17324D"/>
                </a:solidFill>
              </a:rPr>
              <a:t>Pyflate</a:t>
            </a:r>
            <a:endParaRPr lang="en-US" sz="1600" dirty="0"/>
          </a:p>
        </p:txBody>
      </p:sp>
      <p:sp>
        <p:nvSpPr>
          <p:cNvPr id="6" name="Text 4"/>
          <p:cNvSpPr/>
          <p:nvPr/>
        </p:nvSpPr>
        <p:spPr>
          <a:xfrm>
            <a:off x="6446520" y="1417320"/>
            <a:ext cx="4937760" cy="320040"/>
          </a:xfrm>
          <a:prstGeom prst="rect">
            <a:avLst/>
          </a:prstGeom>
          <a:noFill/>
          <a:ln/>
        </p:spPr>
        <p:txBody>
          <a:bodyPr wrap="square" lIns="0" tIns="0" rIns="0" bIns="0" rtlCol="0" anchor="ctr"/>
          <a:lstStyle/>
          <a:p>
            <a:pPr marL="0" indent="0">
              <a:buNone/>
            </a:pPr>
            <a:r>
              <a:rPr lang="en-US" sz="1600" b="1" dirty="0">
                <a:solidFill>
                  <a:srgbClr val="17324D"/>
                </a:solidFill>
              </a:rPr>
              <a:t>MDP</a:t>
            </a:r>
            <a:endParaRPr lang="en-US" sz="1600" dirty="0"/>
          </a:p>
        </p:txBody>
      </p:sp>
      <p:sp>
        <p:nvSpPr>
          <p:cNvPr id="7" name="Text 5"/>
          <p:cNvSpPr/>
          <p:nvPr/>
        </p:nvSpPr>
        <p:spPr>
          <a:xfrm>
            <a:off x="822960" y="1901952"/>
            <a:ext cx="4846320" cy="3291840"/>
          </a:xfrm>
          <a:prstGeom prst="rect">
            <a:avLst/>
          </a:prstGeom>
          <a:noFill/>
          <a:ln/>
        </p:spPr>
        <p:txBody>
          <a:bodyPr wrap="square" lIns="254" tIns="254" rIns="254" bIns="254" rtlCol="0" anchor="t">
            <a:normAutofit/>
          </a:bodyPr>
          <a:lstStyle/>
          <a:p>
            <a:pPr marL="177800" indent="-177800">
              <a:buSzPct val="100000"/>
              <a:buChar char="•"/>
            </a:pPr>
            <a:r>
              <a:rPr lang="en-US" sz="1550" dirty="0">
                <a:solidFill>
                  <a:srgbClr val="1F2937"/>
                </a:solidFill>
                <a:latin typeface="Aptos" pitchFamily="34" charset="0"/>
                <a:ea typeface="Aptos" pitchFamily="34" charset="-122"/>
                <a:cs typeface="Aptos" pitchFamily="34" charset="-120"/>
              </a:rPr>
              <a:t>Pure-Python decompression benchmark</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Tested workload: bzip2 decompression</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Key stages: Huffman, RLE, MTF, inverse BWT</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Dominated by repeated bit and byte processing</a:t>
            </a:r>
            <a:endParaRPr lang="en-US" sz="1550" dirty="0"/>
          </a:p>
        </p:txBody>
      </p:sp>
      <p:sp>
        <p:nvSpPr>
          <p:cNvPr id="8" name="Text 6"/>
          <p:cNvSpPr/>
          <p:nvPr/>
        </p:nvSpPr>
        <p:spPr>
          <a:xfrm>
            <a:off x="6492240" y="1901952"/>
            <a:ext cx="4846320" cy="3291840"/>
          </a:xfrm>
          <a:prstGeom prst="rect">
            <a:avLst/>
          </a:prstGeom>
          <a:noFill/>
          <a:ln/>
        </p:spPr>
        <p:txBody>
          <a:bodyPr wrap="square" lIns="254" tIns="254" rIns="254" bIns="254" rtlCol="0" anchor="t">
            <a:normAutofit/>
          </a:bodyPr>
          <a:lstStyle/>
          <a:p>
            <a:pPr marL="177800" indent="-177800">
              <a:buSzPct val="100000"/>
              <a:buChar char="•"/>
            </a:pPr>
            <a:r>
              <a:rPr lang="en-US" sz="1550" dirty="0">
                <a:solidFill>
                  <a:srgbClr val="1F2937"/>
                </a:solidFill>
                <a:latin typeface="Aptos" pitchFamily="34" charset="0"/>
                <a:ea typeface="Aptos" pitchFamily="34" charset="-122"/>
                <a:cs typeface="Aptos" pitchFamily="34" charset="-120"/>
              </a:rPr>
              <a:t>Markov Decision Process solver</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Builds a probabilistic state graph</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Repeated lower/upper value updates</a:t>
            </a:r>
            <a:endParaRPr lang="en-US" sz="1550" dirty="0"/>
          </a:p>
          <a:p>
            <a:pPr marL="177800" indent="-177800">
              <a:buSzPct val="100000"/>
              <a:buChar char="•"/>
            </a:pPr>
            <a:r>
              <a:rPr lang="en-US" sz="1550" dirty="0">
                <a:solidFill>
                  <a:srgbClr val="1F2937"/>
                </a:solidFill>
                <a:latin typeface="Aptos" pitchFamily="34" charset="0"/>
                <a:ea typeface="Aptos" pitchFamily="34" charset="-122"/>
                <a:cs typeface="Aptos" pitchFamily="34" charset="-120"/>
              </a:rPr>
              <a:t>Dominated by representation and lookup overhead</a:t>
            </a:r>
            <a:endParaRPr lang="en-US" sz="1550" dirty="0"/>
          </a:p>
        </p:txBody>
      </p:sp>
      <p:sp>
        <p:nvSpPr>
          <p:cNvPr id="31"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3</a:t>
            </a:fld>
            <a:endParaRPr lang="en-US"/>
          </a:p>
        </p:txBody>
      </p:sp>
      <p:pic>
        <p:nvPicPr>
          <p:cNvPr id="37" name="Picture 36">
            <a:extLst>
              <a:ext uri="{FF2B5EF4-FFF2-40B4-BE49-F238E27FC236}">
                <a16:creationId xmlns:a16="http://schemas.microsoft.com/office/drawing/2014/main" id="{BDBFBE03-F688-CD2B-55CF-22CBF41EAA87}"/>
              </a:ext>
            </a:extLst>
          </p:cNvPr>
          <p:cNvPicPr>
            <a:picLocks noChangeAspect="1"/>
          </p:cNvPicPr>
          <p:nvPr/>
        </p:nvPicPr>
        <p:blipFill>
          <a:blip r:embed="rId3"/>
          <a:srcRect t="35312" b="51729"/>
          <a:stretch>
            <a:fillRect/>
          </a:stretch>
        </p:blipFill>
        <p:spPr>
          <a:xfrm>
            <a:off x="10160" y="5925312"/>
            <a:ext cx="8321040" cy="808735"/>
          </a:xfrm>
          <a:prstGeom prst="rect">
            <a:avLst/>
          </a:prstGeom>
        </p:spPr>
      </p:pic>
      <p:pic>
        <p:nvPicPr>
          <p:cNvPr id="39" name="Picture 38">
            <a:extLst>
              <a:ext uri="{FF2B5EF4-FFF2-40B4-BE49-F238E27FC236}">
                <a16:creationId xmlns:a16="http://schemas.microsoft.com/office/drawing/2014/main" id="{63A9D139-E060-59CA-8582-CDBA850307D8}"/>
              </a:ext>
            </a:extLst>
          </p:cNvPr>
          <p:cNvPicPr>
            <a:picLocks noChangeAspect="1"/>
          </p:cNvPicPr>
          <p:nvPr/>
        </p:nvPicPr>
        <p:blipFill>
          <a:blip r:embed="rId4"/>
          <a:srcRect t="21333" b="39852"/>
          <a:stretch>
            <a:fillRect/>
          </a:stretch>
        </p:blipFill>
        <p:spPr>
          <a:xfrm>
            <a:off x="4815840" y="3381104"/>
            <a:ext cx="7376160" cy="2147279"/>
          </a:xfrm>
          <a:prstGeom prst="rect">
            <a:avLst/>
          </a:prstGeom>
        </p:spPr>
      </p:pic>
      <p:pic>
        <p:nvPicPr>
          <p:cNvPr id="41" name="Picture 40">
            <a:extLst>
              <a:ext uri="{FF2B5EF4-FFF2-40B4-BE49-F238E27FC236}">
                <a16:creationId xmlns:a16="http://schemas.microsoft.com/office/drawing/2014/main" id="{D6736DF0-A55A-3DD2-58EF-A89DDD16C7B8}"/>
              </a:ext>
            </a:extLst>
          </p:cNvPr>
          <p:cNvPicPr>
            <a:picLocks noChangeAspect="1"/>
          </p:cNvPicPr>
          <p:nvPr/>
        </p:nvPicPr>
        <p:blipFill>
          <a:blip r:embed="rId5"/>
          <a:stretch>
            <a:fillRect/>
          </a:stretch>
        </p:blipFill>
        <p:spPr>
          <a:xfrm>
            <a:off x="374567" y="5340097"/>
            <a:ext cx="3180273" cy="4297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Pyflate — Evaluation</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5" name="Text 3"/>
          <p:cNvSpPr/>
          <p:nvPr/>
        </p:nvSpPr>
        <p:spPr>
          <a:xfrm>
            <a:off x="822960" y="1463040"/>
            <a:ext cx="10251440" cy="2834640"/>
          </a:xfrm>
          <a:prstGeom prst="rect">
            <a:avLst/>
          </a:prstGeom>
          <a:noFill/>
          <a:ln/>
        </p:spPr>
        <p:txBody>
          <a:bodyPr wrap="square" lIns="254" tIns="254" rIns="254" bIns="254" rtlCol="0" anchor="t">
            <a:normAutofit/>
          </a:bodyPr>
          <a:lstStyle/>
          <a:p>
            <a:pPr marL="285750" lvl="0" indent="-285750">
              <a:buFont typeface="Arial" panose="020B0604020202020204" pitchFamily="34" charset="0"/>
              <a:buChar char="•"/>
            </a:pPr>
            <a:r>
              <a:rPr lang="" dirty="0"/>
              <a:t>Benchmark decompresses a fixed bzip2 file: small python operations repeated many many times</a:t>
            </a:r>
          </a:p>
          <a:p>
            <a:pPr marL="285750" lvl="0" indent="-285750">
              <a:buFont typeface="Arial" panose="020B0604020202020204" pitchFamily="34" charset="0"/>
              <a:buChar char="•"/>
            </a:pPr>
            <a:r>
              <a:rPr lang="" b="1" dirty="0"/>
              <a:t>148,271 Huffman symbols</a:t>
            </a:r>
            <a:r>
              <a:rPr lang="" dirty="0"/>
              <a:t> decoded </a:t>
            </a:r>
          </a:p>
          <a:p>
            <a:pPr marL="285750" lvl="0" indent="-285750">
              <a:buFont typeface="Arial" panose="020B0604020202020204" pitchFamily="34" charset="0"/>
              <a:buChar char="•"/>
            </a:pPr>
            <a:r>
              <a:rPr lang="" dirty="0"/>
              <a:t>Significant overhead from: </a:t>
            </a:r>
          </a:p>
          <a:p>
            <a:pPr marL="742950" lvl="1" indent="-285750">
              <a:buFont typeface="Arial" panose="020B0604020202020204" pitchFamily="34" charset="0"/>
              <a:buChar char="•"/>
            </a:pPr>
            <a:r>
              <a:rPr lang="" dirty="0"/>
              <a:t>Huffman table searching </a:t>
            </a:r>
          </a:p>
          <a:p>
            <a:pPr marL="742950" lvl="1" indent="-285750">
              <a:buFont typeface="Arial" panose="020B0604020202020204" pitchFamily="34" charset="0"/>
              <a:buChar char="•"/>
            </a:pPr>
            <a:r>
              <a:rPr lang="" dirty="0"/>
              <a:t>Bit-reader operations </a:t>
            </a:r>
          </a:p>
          <a:p>
            <a:pPr marL="742950" lvl="1" indent="-285750">
              <a:buFont typeface="Arial" panose="020B0604020202020204" pitchFamily="34" charset="0"/>
              <a:buChar char="•"/>
            </a:pPr>
            <a:r>
              <a:rPr lang="" dirty="0"/>
              <a:t>Move-to-front list manipulation </a:t>
            </a:r>
          </a:p>
          <a:p>
            <a:pPr marL="742950" lvl="1" indent="-285750">
              <a:buFont typeface="Arial" panose="020B0604020202020204" pitchFamily="34" charset="0"/>
              <a:buChar char="•"/>
            </a:pPr>
            <a:r>
              <a:rPr lang="" dirty="0"/>
              <a:t>Python-level final RLE scanning</a:t>
            </a:r>
          </a:p>
          <a:p>
            <a:pPr marL="177800" indent="-177800">
              <a:buSzPct val="100000"/>
              <a:buChar char="•"/>
            </a:pPr>
            <a:endParaRPr lang="en-US" sz="165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4</a:t>
            </a:fld>
            <a:endParaRPr lang="en-US"/>
          </a:p>
        </p:txBody>
      </p:sp>
      <p:pic>
        <p:nvPicPr>
          <p:cNvPr id="13" name="Graphic 12">
            <a:extLst>
              <a:ext uri="{FF2B5EF4-FFF2-40B4-BE49-F238E27FC236}">
                <a16:creationId xmlns:a16="http://schemas.microsoft.com/office/drawing/2014/main" id="{A49EDD7E-5FB5-C439-BEAC-67499F9AB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360" y="4435602"/>
            <a:ext cx="11430000" cy="2038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Pyflate — Problems and Optimizations</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841248" y="1389888"/>
            <a:ext cx="3794760" cy="256032"/>
          </a:xfrm>
          <a:prstGeom prst="rect">
            <a:avLst/>
          </a:prstGeom>
          <a:noFill/>
          <a:ln/>
        </p:spPr>
        <p:txBody>
          <a:bodyPr wrap="square" lIns="0" tIns="0" rIns="0" bIns="0" rtlCol="0" anchor="ctr"/>
          <a:lstStyle/>
          <a:p>
            <a:pPr marL="0" indent="0">
              <a:buNone/>
            </a:pPr>
            <a:r>
              <a:rPr lang="en-US" sz="1200" b="1" dirty="0">
                <a:solidFill>
                  <a:srgbClr val="58799C"/>
                </a:solidFill>
              </a:rPr>
              <a:t>Problem</a:t>
            </a:r>
            <a:endParaRPr lang="en-US" sz="1200" dirty="0"/>
          </a:p>
        </p:txBody>
      </p:sp>
      <p:sp>
        <p:nvSpPr>
          <p:cNvPr id="5" name="Text 3"/>
          <p:cNvSpPr/>
          <p:nvPr/>
        </p:nvSpPr>
        <p:spPr>
          <a:xfrm>
            <a:off x="5897880" y="1389888"/>
            <a:ext cx="4023360" cy="256032"/>
          </a:xfrm>
          <a:prstGeom prst="rect">
            <a:avLst/>
          </a:prstGeom>
          <a:noFill/>
          <a:ln/>
        </p:spPr>
        <p:txBody>
          <a:bodyPr wrap="square" lIns="0" tIns="0" rIns="0" bIns="0" rtlCol="0" anchor="ctr"/>
          <a:lstStyle/>
          <a:p>
            <a:pPr marL="0" indent="0">
              <a:buNone/>
            </a:pPr>
            <a:r>
              <a:rPr lang="en-US" sz="1200" b="1" dirty="0">
                <a:solidFill>
                  <a:srgbClr val="58799C"/>
                </a:solidFill>
              </a:rPr>
              <a:t>Fix</a:t>
            </a:r>
            <a:endParaRPr lang="en-US" sz="1200" dirty="0"/>
          </a:p>
        </p:txBody>
      </p:sp>
      <p:sp>
        <p:nvSpPr>
          <p:cNvPr id="6" name="Text 4"/>
          <p:cNvSpPr/>
          <p:nvPr/>
        </p:nvSpPr>
        <p:spPr>
          <a:xfrm>
            <a:off x="841248" y="1783080"/>
            <a:ext cx="3749040" cy="292608"/>
          </a:xfrm>
          <a:prstGeom prst="rect">
            <a:avLst/>
          </a:prstGeom>
          <a:noFill/>
          <a:ln/>
        </p:spPr>
        <p:txBody>
          <a:bodyPr wrap="square" lIns="0" tIns="0" rIns="0" bIns="0" rtlCol="0" anchor="ctr"/>
          <a:lstStyle/>
          <a:p>
            <a:pPr marL="0" indent="0">
              <a:buNone/>
            </a:pPr>
            <a:r>
              <a:rPr lang="en-US" sz="1420" b="1" dirty="0">
                <a:solidFill>
                  <a:srgbClr val="1F2937"/>
                </a:solidFill>
              </a:rPr>
              <a:t>Huffman table scan</a:t>
            </a:r>
            <a:endParaRPr lang="en-US" sz="1420" dirty="0"/>
          </a:p>
        </p:txBody>
      </p:sp>
      <p:sp>
        <p:nvSpPr>
          <p:cNvPr id="7" name="Shape 5"/>
          <p:cNvSpPr/>
          <p:nvPr/>
        </p:nvSpPr>
        <p:spPr>
          <a:xfrm>
            <a:off x="4773168" y="1929384"/>
            <a:ext cx="777240" cy="0"/>
          </a:xfrm>
          <a:prstGeom prst="line">
            <a:avLst/>
          </a:prstGeom>
          <a:noFill/>
          <a:ln w="15240">
            <a:solidFill>
              <a:srgbClr val="8FA3BF"/>
            </a:solidFill>
            <a:prstDash val="solid"/>
            <a:tailEnd type="triangle"/>
          </a:ln>
        </p:spPr>
        <p:txBody>
          <a:bodyPr/>
          <a:lstStyle/>
          <a:p>
            <a:endParaRPr lang="LID4096"/>
          </a:p>
        </p:txBody>
      </p:sp>
      <p:sp>
        <p:nvSpPr>
          <p:cNvPr id="8" name="Text 6"/>
          <p:cNvSpPr/>
          <p:nvPr/>
        </p:nvSpPr>
        <p:spPr>
          <a:xfrm>
            <a:off x="5897880" y="1783080"/>
            <a:ext cx="5257800" cy="292608"/>
          </a:xfrm>
          <a:prstGeom prst="rect">
            <a:avLst/>
          </a:prstGeom>
          <a:noFill/>
          <a:ln/>
        </p:spPr>
        <p:txBody>
          <a:bodyPr wrap="square" lIns="0" tIns="0" rIns="0" bIns="0" rtlCol="0" anchor="ctr">
            <a:normAutofit/>
          </a:bodyPr>
          <a:lstStyle/>
          <a:p>
            <a:pPr marL="0" indent="0">
              <a:buNone/>
            </a:pPr>
            <a:r>
              <a:rPr lang="en-US" sz="1420" dirty="0">
                <a:solidFill>
                  <a:srgbClr val="1F2937"/>
                </a:solidFill>
              </a:rPr>
              <a:t>Canonical Huffman tables: limit, base, symbols</a:t>
            </a:r>
            <a:endParaRPr lang="en-US" sz="1420" dirty="0"/>
          </a:p>
        </p:txBody>
      </p:sp>
      <p:sp>
        <p:nvSpPr>
          <p:cNvPr id="9" name="Text 7"/>
          <p:cNvSpPr/>
          <p:nvPr/>
        </p:nvSpPr>
        <p:spPr>
          <a:xfrm>
            <a:off x="841248" y="2126488"/>
            <a:ext cx="3749040" cy="292608"/>
          </a:xfrm>
          <a:prstGeom prst="rect">
            <a:avLst/>
          </a:prstGeom>
          <a:noFill/>
          <a:ln/>
        </p:spPr>
        <p:txBody>
          <a:bodyPr wrap="square" lIns="0" tIns="0" rIns="0" bIns="0" rtlCol="0" anchor="ctr"/>
          <a:lstStyle/>
          <a:p>
            <a:pPr marL="0" indent="0">
              <a:buNone/>
            </a:pPr>
            <a:r>
              <a:rPr lang="en-US" sz="1420" b="1" dirty="0">
                <a:solidFill>
                  <a:srgbClr val="1F2937"/>
                </a:solidFill>
              </a:rPr>
              <a:t>Frequent small bit refills</a:t>
            </a:r>
            <a:endParaRPr lang="en-US" sz="1420" dirty="0"/>
          </a:p>
        </p:txBody>
      </p:sp>
      <p:sp>
        <p:nvSpPr>
          <p:cNvPr id="10" name="Shape 8"/>
          <p:cNvSpPr/>
          <p:nvPr/>
        </p:nvSpPr>
        <p:spPr>
          <a:xfrm>
            <a:off x="4773168" y="2272792"/>
            <a:ext cx="777240" cy="0"/>
          </a:xfrm>
          <a:prstGeom prst="line">
            <a:avLst/>
          </a:prstGeom>
          <a:noFill/>
          <a:ln w="15240">
            <a:solidFill>
              <a:srgbClr val="8FA3BF"/>
            </a:solidFill>
            <a:prstDash val="solid"/>
            <a:tailEnd type="triangle"/>
          </a:ln>
        </p:spPr>
        <p:txBody>
          <a:bodyPr/>
          <a:lstStyle/>
          <a:p>
            <a:endParaRPr lang="LID4096"/>
          </a:p>
        </p:txBody>
      </p:sp>
      <p:sp>
        <p:nvSpPr>
          <p:cNvPr id="11" name="Text 9"/>
          <p:cNvSpPr/>
          <p:nvPr/>
        </p:nvSpPr>
        <p:spPr>
          <a:xfrm>
            <a:off x="5897880" y="2126488"/>
            <a:ext cx="5257800" cy="292608"/>
          </a:xfrm>
          <a:prstGeom prst="rect">
            <a:avLst/>
          </a:prstGeom>
          <a:noFill/>
          <a:ln/>
        </p:spPr>
        <p:txBody>
          <a:bodyPr wrap="square" lIns="0" tIns="0" rIns="0" bIns="0" rtlCol="0" anchor="ctr">
            <a:normAutofit/>
          </a:bodyPr>
          <a:lstStyle/>
          <a:p>
            <a:pPr marL="0" indent="0">
              <a:buNone/>
            </a:pPr>
            <a:r>
              <a:rPr lang="en-US" sz="1420" dirty="0">
                <a:solidFill>
                  <a:srgbClr val="1F2937"/>
                </a:solidFill>
              </a:rPr>
              <a:t>Bulk input, wider refills, precomputed masks</a:t>
            </a:r>
            <a:endParaRPr lang="en-US" sz="1420" dirty="0"/>
          </a:p>
        </p:txBody>
      </p:sp>
      <p:sp>
        <p:nvSpPr>
          <p:cNvPr id="12" name="Text 10"/>
          <p:cNvSpPr/>
          <p:nvPr/>
        </p:nvSpPr>
        <p:spPr>
          <a:xfrm>
            <a:off x="841248" y="2439416"/>
            <a:ext cx="3749040" cy="292608"/>
          </a:xfrm>
          <a:prstGeom prst="rect">
            <a:avLst/>
          </a:prstGeom>
          <a:noFill/>
          <a:ln/>
        </p:spPr>
        <p:txBody>
          <a:bodyPr wrap="square" lIns="0" tIns="0" rIns="0" bIns="0" rtlCol="0" anchor="ctr"/>
          <a:lstStyle/>
          <a:p>
            <a:pPr marL="0" indent="0">
              <a:buNone/>
            </a:pPr>
            <a:r>
              <a:rPr lang="en-US" sz="1420" b="1" dirty="0">
                <a:solidFill>
                  <a:srgbClr val="1F2937"/>
                </a:solidFill>
              </a:rPr>
              <a:t>MTF list reconstruction</a:t>
            </a:r>
            <a:endParaRPr lang="en-US" sz="1420" dirty="0"/>
          </a:p>
        </p:txBody>
      </p:sp>
      <p:sp>
        <p:nvSpPr>
          <p:cNvPr id="13" name="Shape 11"/>
          <p:cNvSpPr/>
          <p:nvPr/>
        </p:nvSpPr>
        <p:spPr>
          <a:xfrm>
            <a:off x="4773168" y="2585720"/>
            <a:ext cx="777240" cy="0"/>
          </a:xfrm>
          <a:prstGeom prst="line">
            <a:avLst/>
          </a:prstGeom>
          <a:noFill/>
          <a:ln w="15240">
            <a:solidFill>
              <a:srgbClr val="8FA3BF"/>
            </a:solidFill>
            <a:prstDash val="solid"/>
            <a:tailEnd type="triangle"/>
          </a:ln>
        </p:spPr>
        <p:txBody>
          <a:bodyPr/>
          <a:lstStyle/>
          <a:p>
            <a:endParaRPr lang="LID4096"/>
          </a:p>
        </p:txBody>
      </p:sp>
      <p:sp>
        <p:nvSpPr>
          <p:cNvPr id="14" name="Text 12"/>
          <p:cNvSpPr/>
          <p:nvPr/>
        </p:nvSpPr>
        <p:spPr>
          <a:xfrm>
            <a:off x="5897880" y="2439416"/>
            <a:ext cx="5257800" cy="292608"/>
          </a:xfrm>
          <a:prstGeom prst="rect">
            <a:avLst/>
          </a:prstGeom>
          <a:noFill/>
          <a:ln/>
        </p:spPr>
        <p:txBody>
          <a:bodyPr wrap="square" lIns="0" tIns="0" rIns="0" bIns="0" rtlCol="0" anchor="ctr">
            <a:normAutofit/>
          </a:bodyPr>
          <a:lstStyle/>
          <a:p>
            <a:pPr marL="0" indent="0">
              <a:buNone/>
            </a:pPr>
            <a:r>
              <a:rPr lang="en-US" sz="1420" dirty="0">
                <a:solidFill>
                  <a:srgbClr val="1F2937"/>
                </a:solidFill>
              </a:rPr>
              <a:t>Use pop() + insert()</a:t>
            </a:r>
            <a:endParaRPr lang="en-US" sz="1420" dirty="0"/>
          </a:p>
        </p:txBody>
      </p:sp>
      <p:sp>
        <p:nvSpPr>
          <p:cNvPr id="15" name="Text 13"/>
          <p:cNvSpPr/>
          <p:nvPr/>
        </p:nvSpPr>
        <p:spPr>
          <a:xfrm>
            <a:off x="841248" y="2803144"/>
            <a:ext cx="3749040" cy="292608"/>
          </a:xfrm>
          <a:prstGeom prst="rect">
            <a:avLst/>
          </a:prstGeom>
          <a:noFill/>
          <a:ln/>
        </p:spPr>
        <p:txBody>
          <a:bodyPr wrap="square" lIns="0" tIns="0" rIns="0" bIns="0" rtlCol="0" anchor="ctr"/>
          <a:lstStyle/>
          <a:p>
            <a:pPr marL="0" indent="0">
              <a:buNone/>
            </a:pPr>
            <a:r>
              <a:rPr lang="en-US" sz="1420" b="1" dirty="0">
                <a:solidFill>
                  <a:srgbClr val="1F2937"/>
                </a:solidFill>
              </a:rPr>
              <a:t>Python RLE scan</a:t>
            </a:r>
            <a:endParaRPr lang="en-US" sz="1420" dirty="0"/>
          </a:p>
        </p:txBody>
      </p:sp>
      <p:sp>
        <p:nvSpPr>
          <p:cNvPr id="16" name="Shape 14"/>
          <p:cNvSpPr/>
          <p:nvPr/>
        </p:nvSpPr>
        <p:spPr>
          <a:xfrm>
            <a:off x="4773168" y="2949448"/>
            <a:ext cx="777240" cy="0"/>
          </a:xfrm>
          <a:prstGeom prst="line">
            <a:avLst/>
          </a:prstGeom>
          <a:noFill/>
          <a:ln w="15240">
            <a:solidFill>
              <a:srgbClr val="8FA3BF"/>
            </a:solidFill>
            <a:prstDash val="solid"/>
            <a:tailEnd type="triangle"/>
          </a:ln>
        </p:spPr>
        <p:txBody>
          <a:bodyPr/>
          <a:lstStyle/>
          <a:p>
            <a:endParaRPr lang="LID4096"/>
          </a:p>
        </p:txBody>
      </p:sp>
      <p:sp>
        <p:nvSpPr>
          <p:cNvPr id="17" name="Text 15"/>
          <p:cNvSpPr/>
          <p:nvPr/>
        </p:nvSpPr>
        <p:spPr>
          <a:xfrm>
            <a:off x="5897880" y="2803144"/>
            <a:ext cx="5257800" cy="292608"/>
          </a:xfrm>
          <a:prstGeom prst="rect">
            <a:avLst/>
          </a:prstGeom>
          <a:noFill/>
          <a:ln/>
        </p:spPr>
        <p:txBody>
          <a:bodyPr wrap="square" lIns="0" tIns="0" rIns="0" bIns="0" rtlCol="0" anchor="ctr">
            <a:normAutofit/>
          </a:bodyPr>
          <a:lstStyle/>
          <a:p>
            <a:pPr marL="0" indent="0">
              <a:buNone/>
            </a:pPr>
            <a:r>
              <a:rPr lang="en-US" sz="1420" dirty="0">
                <a:solidFill>
                  <a:srgbClr val="1F2937"/>
                </a:solidFill>
              </a:rPr>
              <a:t>Compiled regular-expression scan</a:t>
            </a:r>
            <a:endParaRPr lang="en-US" sz="1420" dirty="0"/>
          </a:p>
        </p:txBody>
      </p:sp>
      <p:sp>
        <p:nvSpPr>
          <p:cNvPr id="18" name="Text 16"/>
          <p:cNvSpPr/>
          <p:nvPr/>
        </p:nvSpPr>
        <p:spPr>
          <a:xfrm>
            <a:off x="841248" y="3146552"/>
            <a:ext cx="3749040" cy="292608"/>
          </a:xfrm>
          <a:prstGeom prst="rect">
            <a:avLst/>
          </a:prstGeom>
          <a:noFill/>
          <a:ln/>
        </p:spPr>
        <p:txBody>
          <a:bodyPr wrap="square" lIns="0" tIns="0" rIns="0" bIns="0" rtlCol="0" anchor="ctr"/>
          <a:lstStyle/>
          <a:p>
            <a:pPr marL="0" indent="0">
              <a:buNone/>
            </a:pPr>
            <a:r>
              <a:rPr lang="en-US" sz="1420" b="1" dirty="0">
                <a:solidFill>
                  <a:srgbClr val="1F2937"/>
                </a:solidFill>
              </a:rPr>
              <a:t>Repeated lookups/allocations</a:t>
            </a:r>
            <a:endParaRPr lang="en-US" sz="1420" dirty="0"/>
          </a:p>
        </p:txBody>
      </p:sp>
      <p:sp>
        <p:nvSpPr>
          <p:cNvPr id="19" name="Shape 17"/>
          <p:cNvSpPr/>
          <p:nvPr/>
        </p:nvSpPr>
        <p:spPr>
          <a:xfrm>
            <a:off x="4773168" y="3292856"/>
            <a:ext cx="777240" cy="0"/>
          </a:xfrm>
          <a:prstGeom prst="line">
            <a:avLst/>
          </a:prstGeom>
          <a:noFill/>
          <a:ln w="15240">
            <a:solidFill>
              <a:srgbClr val="8FA3BF"/>
            </a:solidFill>
            <a:prstDash val="solid"/>
            <a:tailEnd type="triangle"/>
          </a:ln>
        </p:spPr>
        <p:txBody>
          <a:bodyPr/>
          <a:lstStyle/>
          <a:p>
            <a:endParaRPr lang="LID4096"/>
          </a:p>
        </p:txBody>
      </p:sp>
      <p:sp>
        <p:nvSpPr>
          <p:cNvPr id="20" name="Text 18"/>
          <p:cNvSpPr/>
          <p:nvPr/>
        </p:nvSpPr>
        <p:spPr>
          <a:xfrm>
            <a:off x="5897880" y="3146552"/>
            <a:ext cx="5257800" cy="292608"/>
          </a:xfrm>
          <a:prstGeom prst="rect">
            <a:avLst/>
          </a:prstGeom>
          <a:noFill/>
          <a:ln/>
        </p:spPr>
        <p:txBody>
          <a:bodyPr wrap="square" lIns="0" tIns="0" rIns="0" bIns="0" rtlCol="0" anchor="ctr">
            <a:normAutofit/>
          </a:bodyPr>
          <a:lstStyle/>
          <a:p>
            <a:pPr marL="0" indent="0">
              <a:buNone/>
            </a:pPr>
            <a:r>
              <a:rPr lang="en-US" sz="1420" dirty="0">
                <a:solidFill>
                  <a:srgbClr val="1F2937"/>
                </a:solidFill>
              </a:rPr>
              <a:t>Local references and preallocated output</a:t>
            </a:r>
            <a:endParaRPr lang="en-US" sz="142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5</a:t>
            </a:fld>
            <a:endParaRPr lang="en-US"/>
          </a:p>
        </p:txBody>
      </p:sp>
      <p:pic>
        <p:nvPicPr>
          <p:cNvPr id="27" name="Picture 26">
            <a:extLst>
              <a:ext uri="{FF2B5EF4-FFF2-40B4-BE49-F238E27FC236}">
                <a16:creationId xmlns:a16="http://schemas.microsoft.com/office/drawing/2014/main" id="{11CA455B-26B0-251A-8273-D2546B25A4E9}"/>
              </a:ext>
            </a:extLst>
          </p:cNvPr>
          <p:cNvPicPr>
            <a:picLocks noChangeAspect="1"/>
          </p:cNvPicPr>
          <p:nvPr/>
        </p:nvPicPr>
        <p:blipFill>
          <a:blip r:embed="rId3"/>
          <a:stretch>
            <a:fillRect/>
          </a:stretch>
        </p:blipFill>
        <p:spPr>
          <a:xfrm>
            <a:off x="2088816" y="4272280"/>
            <a:ext cx="5851224" cy="24433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Pyflate — Effect and Ablation</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777240" y="1298448"/>
            <a:ext cx="1600200" cy="411480"/>
          </a:xfrm>
          <a:prstGeom prst="rect">
            <a:avLst/>
          </a:prstGeom>
          <a:noFill/>
          <a:ln/>
        </p:spPr>
        <p:txBody>
          <a:bodyPr wrap="square" lIns="0" tIns="0" rIns="0" bIns="0" rtlCol="0" anchor="ctr"/>
          <a:lstStyle/>
          <a:p>
            <a:pPr marL="0" indent="0" algn="ctr">
              <a:buNone/>
            </a:pPr>
            <a:r>
              <a:rPr lang="en-US" sz="2500" b="1" dirty="0">
                <a:solidFill>
                  <a:srgbClr val="17324D"/>
                </a:solidFill>
              </a:rPr>
              <a:t>1.141 s</a:t>
            </a:r>
            <a:endParaRPr lang="en-US" sz="2500" dirty="0"/>
          </a:p>
        </p:txBody>
      </p:sp>
      <p:sp>
        <p:nvSpPr>
          <p:cNvPr id="5" name="Text 3"/>
          <p:cNvSpPr/>
          <p:nvPr/>
        </p:nvSpPr>
        <p:spPr>
          <a:xfrm>
            <a:off x="77724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baseline</a:t>
            </a:r>
            <a:endParaRPr lang="en-US" sz="1000" dirty="0"/>
          </a:p>
        </p:txBody>
      </p:sp>
      <p:sp>
        <p:nvSpPr>
          <p:cNvPr id="6" name="Text 4"/>
          <p:cNvSpPr/>
          <p:nvPr/>
        </p:nvSpPr>
        <p:spPr>
          <a:xfrm>
            <a:off x="2697480" y="1298448"/>
            <a:ext cx="1600200" cy="411480"/>
          </a:xfrm>
          <a:prstGeom prst="rect">
            <a:avLst/>
          </a:prstGeom>
          <a:noFill/>
          <a:ln/>
        </p:spPr>
        <p:txBody>
          <a:bodyPr wrap="square" lIns="0" tIns="0" rIns="0" bIns="0" rtlCol="0" anchor="ctr"/>
          <a:lstStyle/>
          <a:p>
            <a:pPr marL="0" indent="0" algn="ctr">
              <a:buNone/>
            </a:pPr>
            <a:r>
              <a:rPr lang="en-US" sz="2500" b="1" dirty="0">
                <a:solidFill>
                  <a:srgbClr val="3D7A5F"/>
                </a:solidFill>
              </a:rPr>
              <a:t>0.487 s</a:t>
            </a:r>
            <a:endParaRPr lang="en-US" sz="2500" dirty="0"/>
          </a:p>
        </p:txBody>
      </p:sp>
      <p:sp>
        <p:nvSpPr>
          <p:cNvPr id="7" name="Text 5"/>
          <p:cNvSpPr/>
          <p:nvPr/>
        </p:nvSpPr>
        <p:spPr>
          <a:xfrm>
            <a:off x="269748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optimized</a:t>
            </a:r>
            <a:endParaRPr lang="en-US" sz="1000" dirty="0"/>
          </a:p>
        </p:txBody>
      </p:sp>
      <p:sp>
        <p:nvSpPr>
          <p:cNvPr id="8" name="Text 6"/>
          <p:cNvSpPr/>
          <p:nvPr/>
        </p:nvSpPr>
        <p:spPr>
          <a:xfrm>
            <a:off x="4617720" y="1298448"/>
            <a:ext cx="1600200" cy="411480"/>
          </a:xfrm>
          <a:prstGeom prst="rect">
            <a:avLst/>
          </a:prstGeom>
          <a:noFill/>
          <a:ln/>
        </p:spPr>
        <p:txBody>
          <a:bodyPr wrap="square" lIns="0" tIns="0" rIns="0" bIns="0" rtlCol="0" anchor="ctr"/>
          <a:lstStyle/>
          <a:p>
            <a:pPr marL="0" indent="0" algn="ctr">
              <a:buNone/>
            </a:pPr>
            <a:r>
              <a:rPr lang="en-US" sz="2500" b="1" dirty="0">
                <a:solidFill>
                  <a:srgbClr val="17324D"/>
                </a:solidFill>
              </a:rPr>
              <a:t>2.34×</a:t>
            </a:r>
            <a:endParaRPr lang="en-US" sz="2500" dirty="0"/>
          </a:p>
        </p:txBody>
      </p:sp>
      <p:sp>
        <p:nvSpPr>
          <p:cNvPr id="9" name="Text 7"/>
          <p:cNvSpPr/>
          <p:nvPr/>
        </p:nvSpPr>
        <p:spPr>
          <a:xfrm>
            <a:off x="461772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speedup</a:t>
            </a:r>
            <a:endParaRPr lang="en-US" sz="1000" dirty="0"/>
          </a:p>
        </p:txBody>
      </p:sp>
      <p:sp>
        <p:nvSpPr>
          <p:cNvPr id="10" name="Text 8"/>
          <p:cNvSpPr/>
          <p:nvPr/>
        </p:nvSpPr>
        <p:spPr>
          <a:xfrm>
            <a:off x="6537960" y="1298448"/>
            <a:ext cx="1828800" cy="411480"/>
          </a:xfrm>
          <a:prstGeom prst="rect">
            <a:avLst/>
          </a:prstGeom>
          <a:noFill/>
          <a:ln/>
        </p:spPr>
        <p:txBody>
          <a:bodyPr wrap="square" lIns="0" tIns="0" rIns="0" bIns="0" rtlCol="0" anchor="ctr"/>
          <a:lstStyle/>
          <a:p>
            <a:pPr marL="0" indent="0" algn="ctr">
              <a:buNone/>
            </a:pPr>
            <a:r>
              <a:rPr lang="en-US" sz="2500" b="1" dirty="0">
                <a:solidFill>
                  <a:srgbClr val="3D7A5F"/>
                </a:solidFill>
              </a:rPr>
              <a:t>57.3%</a:t>
            </a:r>
            <a:endParaRPr lang="en-US" sz="2500" dirty="0"/>
          </a:p>
        </p:txBody>
      </p:sp>
      <p:sp>
        <p:nvSpPr>
          <p:cNvPr id="11" name="Text 9"/>
          <p:cNvSpPr/>
          <p:nvPr/>
        </p:nvSpPr>
        <p:spPr>
          <a:xfrm>
            <a:off x="6537960" y="1737360"/>
            <a:ext cx="1828800" cy="256032"/>
          </a:xfrm>
          <a:prstGeom prst="rect">
            <a:avLst/>
          </a:prstGeom>
          <a:noFill/>
          <a:ln/>
        </p:spPr>
        <p:txBody>
          <a:bodyPr wrap="square" lIns="0" tIns="0" rIns="0" bIns="0" rtlCol="0" anchor="ctr"/>
          <a:lstStyle/>
          <a:p>
            <a:pPr marL="0" indent="0" algn="ctr">
              <a:buNone/>
            </a:pPr>
            <a:r>
              <a:rPr lang="en-US" sz="1000" dirty="0">
                <a:solidFill>
                  <a:srgbClr val="607083"/>
                </a:solidFill>
              </a:rPr>
              <a:t>runtime reduction</a:t>
            </a:r>
            <a:endParaRPr lang="en-US" sz="1000" dirty="0"/>
          </a:p>
        </p:txBody>
      </p:sp>
      <p:sp>
        <p:nvSpPr>
          <p:cNvPr id="12" name="Text 10"/>
          <p:cNvSpPr/>
          <p:nvPr/>
        </p:nvSpPr>
        <p:spPr>
          <a:xfrm>
            <a:off x="822960" y="2377440"/>
            <a:ext cx="3291840" cy="228600"/>
          </a:xfrm>
          <a:prstGeom prst="rect">
            <a:avLst/>
          </a:prstGeom>
          <a:noFill/>
          <a:ln/>
        </p:spPr>
        <p:txBody>
          <a:bodyPr wrap="square" lIns="0" tIns="0" rIns="0" bIns="0" rtlCol="0" anchor="ctr"/>
          <a:lstStyle/>
          <a:p>
            <a:pPr marL="0" indent="0">
              <a:buNone/>
            </a:pPr>
            <a:r>
              <a:rPr lang="en-US" sz="1200" b="1" dirty="0">
                <a:solidFill>
                  <a:srgbClr val="58799C"/>
                </a:solidFill>
              </a:rPr>
              <a:t>Ablation runtime, ms</a:t>
            </a:r>
            <a:endParaRPr lang="en-US" sz="1200" dirty="0"/>
          </a:p>
        </p:txBody>
      </p:sp>
      <p:sp>
        <p:nvSpPr>
          <p:cNvPr id="13" name="Shape 11"/>
          <p:cNvSpPr/>
          <p:nvPr/>
        </p:nvSpPr>
        <p:spPr>
          <a:xfrm>
            <a:off x="868680" y="4709160"/>
            <a:ext cx="6035040" cy="0"/>
          </a:xfrm>
          <a:prstGeom prst="line">
            <a:avLst/>
          </a:prstGeom>
          <a:noFill/>
          <a:ln w="12700">
            <a:solidFill>
              <a:srgbClr val="D6DEE8"/>
            </a:solidFill>
            <a:prstDash val="solid"/>
          </a:ln>
        </p:spPr>
        <p:txBody>
          <a:bodyPr/>
          <a:lstStyle/>
          <a:p>
            <a:endParaRPr lang="LID4096"/>
          </a:p>
        </p:txBody>
      </p:sp>
      <p:sp>
        <p:nvSpPr>
          <p:cNvPr id="14" name="Shape 12"/>
          <p:cNvSpPr/>
          <p:nvPr/>
        </p:nvSpPr>
        <p:spPr>
          <a:xfrm>
            <a:off x="1307592" y="3467144"/>
            <a:ext cx="960120" cy="1242016"/>
          </a:xfrm>
          <a:prstGeom prst="rect">
            <a:avLst/>
          </a:prstGeom>
          <a:solidFill>
            <a:srgbClr val="3D7A5F"/>
          </a:solidFill>
          <a:ln w="12700">
            <a:solidFill>
              <a:srgbClr val="3D7A5F">
                <a:alpha val="0"/>
              </a:srgbClr>
            </a:solidFill>
            <a:prstDash val="solid"/>
          </a:ln>
        </p:spPr>
        <p:txBody>
          <a:bodyPr/>
          <a:lstStyle/>
          <a:p>
            <a:endParaRPr lang="LID4096"/>
          </a:p>
        </p:txBody>
      </p:sp>
      <p:sp>
        <p:nvSpPr>
          <p:cNvPr id="15" name="Text 13"/>
          <p:cNvSpPr/>
          <p:nvPr/>
        </p:nvSpPr>
        <p:spPr>
          <a:xfrm>
            <a:off x="1261872" y="3156248"/>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475</a:t>
            </a:r>
            <a:endParaRPr lang="en-US" sz="1050" dirty="0"/>
          </a:p>
        </p:txBody>
      </p:sp>
      <p:sp>
        <p:nvSpPr>
          <p:cNvPr id="16" name="Text 14"/>
          <p:cNvSpPr/>
          <p:nvPr/>
        </p:nvSpPr>
        <p:spPr>
          <a:xfrm>
            <a:off x="1143000" y="481888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Optimized</a:t>
            </a:r>
            <a:endParaRPr lang="en-US" sz="920" dirty="0"/>
          </a:p>
        </p:txBody>
      </p:sp>
      <p:sp>
        <p:nvSpPr>
          <p:cNvPr id="17" name="Shape 15"/>
          <p:cNvSpPr/>
          <p:nvPr/>
        </p:nvSpPr>
        <p:spPr>
          <a:xfrm>
            <a:off x="2706624" y="3244291"/>
            <a:ext cx="960120" cy="1464869"/>
          </a:xfrm>
          <a:prstGeom prst="rect">
            <a:avLst/>
          </a:prstGeom>
          <a:solidFill>
            <a:srgbClr val="8FA3BF"/>
          </a:solidFill>
          <a:ln w="12700">
            <a:solidFill>
              <a:srgbClr val="8FA3BF">
                <a:alpha val="0"/>
              </a:srgbClr>
            </a:solidFill>
            <a:prstDash val="solid"/>
          </a:ln>
        </p:spPr>
        <p:txBody>
          <a:bodyPr/>
          <a:lstStyle/>
          <a:p>
            <a:endParaRPr lang="LID4096"/>
          </a:p>
        </p:txBody>
      </p:sp>
      <p:sp>
        <p:nvSpPr>
          <p:cNvPr id="18" name="Text 16"/>
          <p:cNvSpPr/>
          <p:nvPr/>
        </p:nvSpPr>
        <p:spPr>
          <a:xfrm>
            <a:off x="2660904" y="2933395"/>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561</a:t>
            </a:r>
            <a:endParaRPr lang="en-US" sz="1050" dirty="0"/>
          </a:p>
        </p:txBody>
      </p:sp>
      <p:sp>
        <p:nvSpPr>
          <p:cNvPr id="19" name="Text 17"/>
          <p:cNvSpPr/>
          <p:nvPr/>
        </p:nvSpPr>
        <p:spPr>
          <a:xfrm>
            <a:off x="2542032" y="481888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No canonical</a:t>
            </a:r>
            <a:endParaRPr lang="en-US" sz="920" dirty="0"/>
          </a:p>
        </p:txBody>
      </p:sp>
      <p:sp>
        <p:nvSpPr>
          <p:cNvPr id="20" name="Shape 18"/>
          <p:cNvSpPr/>
          <p:nvPr/>
        </p:nvSpPr>
        <p:spPr>
          <a:xfrm>
            <a:off x="4105656" y="3041033"/>
            <a:ext cx="960120" cy="1668127"/>
          </a:xfrm>
          <a:prstGeom prst="rect">
            <a:avLst/>
          </a:prstGeom>
          <a:solidFill>
            <a:srgbClr val="58799C"/>
          </a:solidFill>
          <a:ln w="12700">
            <a:solidFill>
              <a:srgbClr val="58799C">
                <a:alpha val="0"/>
              </a:srgbClr>
            </a:solidFill>
            <a:prstDash val="solid"/>
          </a:ln>
        </p:spPr>
        <p:txBody>
          <a:bodyPr/>
          <a:lstStyle/>
          <a:p>
            <a:endParaRPr lang="LID4096"/>
          </a:p>
        </p:txBody>
      </p:sp>
      <p:sp>
        <p:nvSpPr>
          <p:cNvPr id="21" name="Text 19"/>
          <p:cNvSpPr/>
          <p:nvPr/>
        </p:nvSpPr>
        <p:spPr>
          <a:xfrm>
            <a:off x="4059936" y="2730137"/>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639</a:t>
            </a:r>
            <a:endParaRPr lang="en-US" sz="1050" dirty="0"/>
          </a:p>
        </p:txBody>
      </p:sp>
      <p:sp>
        <p:nvSpPr>
          <p:cNvPr id="22" name="Text 20"/>
          <p:cNvSpPr/>
          <p:nvPr/>
        </p:nvSpPr>
        <p:spPr>
          <a:xfrm>
            <a:off x="3941064" y="481888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No MTF opt.</a:t>
            </a:r>
            <a:endParaRPr lang="en-US" sz="920" dirty="0"/>
          </a:p>
        </p:txBody>
      </p:sp>
      <p:sp>
        <p:nvSpPr>
          <p:cNvPr id="23" name="Shape 21"/>
          <p:cNvSpPr/>
          <p:nvPr/>
        </p:nvSpPr>
        <p:spPr>
          <a:xfrm>
            <a:off x="5504688" y="3044691"/>
            <a:ext cx="960120" cy="1664469"/>
          </a:xfrm>
          <a:prstGeom prst="rect">
            <a:avLst/>
          </a:prstGeom>
          <a:solidFill>
            <a:srgbClr val="58799C"/>
          </a:solidFill>
          <a:ln w="12700">
            <a:solidFill>
              <a:srgbClr val="58799C">
                <a:alpha val="0"/>
              </a:srgbClr>
            </a:solidFill>
            <a:prstDash val="solid"/>
          </a:ln>
        </p:spPr>
        <p:txBody>
          <a:bodyPr/>
          <a:lstStyle/>
          <a:p>
            <a:endParaRPr lang="LID4096"/>
          </a:p>
        </p:txBody>
      </p:sp>
      <p:sp>
        <p:nvSpPr>
          <p:cNvPr id="24" name="Text 22"/>
          <p:cNvSpPr/>
          <p:nvPr/>
        </p:nvSpPr>
        <p:spPr>
          <a:xfrm>
            <a:off x="5458968" y="2733795"/>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637</a:t>
            </a:r>
            <a:endParaRPr lang="en-US" sz="1050" dirty="0"/>
          </a:p>
        </p:txBody>
      </p:sp>
      <p:sp>
        <p:nvSpPr>
          <p:cNvPr id="25" name="Text 23"/>
          <p:cNvSpPr/>
          <p:nvPr/>
        </p:nvSpPr>
        <p:spPr>
          <a:xfrm>
            <a:off x="5340096" y="481888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No RLE opt.</a:t>
            </a:r>
            <a:endParaRPr lang="en-US" sz="920" dirty="0"/>
          </a:p>
        </p:txBody>
      </p:sp>
      <p:sp>
        <p:nvSpPr>
          <p:cNvPr id="26" name="Text 24"/>
          <p:cNvSpPr/>
          <p:nvPr/>
        </p:nvSpPr>
        <p:spPr>
          <a:xfrm>
            <a:off x="7726680" y="2514600"/>
            <a:ext cx="2743200" cy="237744"/>
          </a:xfrm>
          <a:prstGeom prst="rect">
            <a:avLst/>
          </a:prstGeom>
          <a:noFill/>
          <a:ln/>
        </p:spPr>
        <p:txBody>
          <a:bodyPr wrap="square" lIns="0" tIns="0" rIns="0" bIns="0" rtlCol="0" anchor="ctr"/>
          <a:lstStyle/>
          <a:p>
            <a:pPr marL="0" indent="0">
              <a:buNone/>
            </a:pPr>
            <a:r>
              <a:rPr lang="en-US" sz="1200" b="1" dirty="0">
                <a:solidFill>
                  <a:srgbClr val="58799C"/>
                </a:solidFill>
              </a:rPr>
              <a:t>Interpretation</a:t>
            </a:r>
            <a:endParaRPr lang="en-US" sz="1200" dirty="0"/>
          </a:p>
        </p:txBody>
      </p:sp>
      <p:sp>
        <p:nvSpPr>
          <p:cNvPr id="27" name="Text 25"/>
          <p:cNvSpPr/>
          <p:nvPr/>
        </p:nvSpPr>
        <p:spPr>
          <a:xfrm>
            <a:off x="7726680" y="2944368"/>
            <a:ext cx="3429000" cy="1600200"/>
          </a:xfrm>
          <a:prstGeom prst="rect">
            <a:avLst/>
          </a:prstGeom>
          <a:noFill/>
          <a:ln/>
        </p:spPr>
        <p:txBody>
          <a:bodyPr wrap="square" lIns="254" tIns="254" rIns="254" bIns="254" rtlCol="0" anchor="t">
            <a:normAutofit/>
          </a:bodyPr>
          <a:lstStyle/>
          <a:p>
            <a:pPr marL="177800" indent="-177800">
              <a:buSzPct val="100000"/>
              <a:buChar char="•"/>
            </a:pPr>
            <a:r>
              <a:rPr lang="en-US" sz="1450" dirty="0">
                <a:solidFill>
                  <a:srgbClr val="1F2937"/>
                </a:solidFill>
                <a:latin typeface="Aptos" pitchFamily="34" charset="0"/>
                <a:ea typeface="Aptos" pitchFamily="34" charset="-122"/>
                <a:cs typeface="Aptos" pitchFamily="34" charset="-120"/>
              </a:rPr>
              <a:t>The speedup is not caused by one change alone</a:t>
            </a:r>
            <a:endParaRPr lang="en-US" sz="1450" dirty="0"/>
          </a:p>
          <a:p>
            <a:pPr marL="177800" indent="-177800">
              <a:buSzPct val="100000"/>
              <a:buChar char="•"/>
            </a:pPr>
            <a:r>
              <a:rPr lang="en-US" sz="1450" dirty="0">
                <a:solidFill>
                  <a:srgbClr val="1F2937"/>
                </a:solidFill>
                <a:latin typeface="Aptos" pitchFamily="34" charset="0"/>
                <a:ea typeface="Aptos" pitchFamily="34" charset="-122"/>
                <a:cs typeface="Aptos" pitchFamily="34" charset="-120"/>
              </a:rPr>
              <a:t>MTF and final RLE changes have large conditional effects</a:t>
            </a:r>
            <a:endParaRPr lang="en-US" sz="1450" dirty="0"/>
          </a:p>
          <a:p>
            <a:pPr marL="177800" indent="-177800">
              <a:buSzPct val="100000"/>
              <a:buChar char="•"/>
            </a:pPr>
            <a:r>
              <a:rPr lang="en-US" sz="1450" dirty="0">
                <a:solidFill>
                  <a:srgbClr val="1F2937"/>
                </a:solidFill>
                <a:latin typeface="Aptos" pitchFamily="34" charset="0"/>
                <a:ea typeface="Aptos" pitchFamily="34" charset="-122"/>
                <a:cs typeface="Aptos" pitchFamily="34" charset="-120"/>
              </a:rPr>
              <a:t>Ablation effects are not additive</a:t>
            </a:r>
            <a:endParaRPr lang="en-US" sz="1450" dirty="0"/>
          </a:p>
        </p:txBody>
      </p:sp>
      <p:sp>
        <p:nvSpPr>
          <p:cNvPr id="28"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MDP — Evaluation</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594360" y="1024128"/>
            <a:ext cx="10789920" cy="274320"/>
          </a:xfrm>
          <a:prstGeom prst="rect">
            <a:avLst/>
          </a:prstGeom>
          <a:noFill/>
          <a:ln/>
        </p:spPr>
        <p:txBody>
          <a:bodyPr wrap="square" lIns="0" tIns="0" rIns="0" bIns="0" rtlCol="0" anchor="ctr"/>
          <a:lstStyle/>
          <a:p>
            <a:pPr marL="0" indent="0">
              <a:buNone/>
            </a:pPr>
            <a:r>
              <a:rPr lang="en-US" sz="1150" dirty="0">
                <a:solidFill>
                  <a:srgbClr val="607083"/>
                </a:solidFill>
              </a:rPr>
              <a:t>What did profiling show?</a:t>
            </a:r>
            <a:endParaRPr lang="en-US" sz="115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7</a:t>
            </a:fld>
            <a:endParaRPr lang="en-US"/>
          </a:p>
        </p:txBody>
      </p:sp>
      <p:sp>
        <p:nvSpPr>
          <p:cNvPr id="14" name="TextBox 13">
            <a:extLst>
              <a:ext uri="{FF2B5EF4-FFF2-40B4-BE49-F238E27FC236}">
                <a16:creationId xmlns:a16="http://schemas.microsoft.com/office/drawing/2014/main" id="{9177DB93-02B7-2A5A-C648-309A8ED7C852}"/>
              </a:ext>
            </a:extLst>
          </p:cNvPr>
          <p:cNvSpPr txBox="1"/>
          <p:nvPr/>
        </p:nvSpPr>
        <p:spPr>
          <a:xfrm>
            <a:off x="594360" y="1483360"/>
            <a:ext cx="4920001" cy="3139321"/>
          </a:xfrm>
          <a:prstGeom prst="rect">
            <a:avLst/>
          </a:prstGeom>
          <a:noFill/>
        </p:spPr>
        <p:txBody>
          <a:bodyPr wrap="none" rtlCol="0">
            <a:spAutoFit/>
          </a:bodyPr>
          <a:lstStyle/>
          <a:p>
            <a:pPr marL="285750" lvl="0" indent="-285750">
              <a:buFont typeface="Arial" panose="020B0604020202020204" pitchFamily="34" charset="0"/>
              <a:buChar char="•"/>
            </a:pPr>
            <a:r>
              <a:rPr lang="" dirty="0"/>
              <a:t>Tested graph contains </a:t>
            </a:r>
            <a:r>
              <a:rPr lang="" b="1" dirty="0"/>
              <a:t>4,823 states</a:t>
            </a:r>
            <a:r>
              <a:rPr lang="" dirty="0"/>
              <a:t> </a:t>
            </a:r>
          </a:p>
          <a:p>
            <a:pPr marL="285750" lvl="0" indent="-285750">
              <a:buFont typeface="Arial" panose="020B0604020202020204" pitchFamily="34" charset="0"/>
              <a:buChar char="•"/>
            </a:pPr>
            <a:r>
              <a:rPr lang="" dirty="0"/>
              <a:t>Repeated Bellman-style value updates </a:t>
            </a:r>
          </a:p>
          <a:p>
            <a:pPr marL="285750" lvl="0" indent="-285750">
              <a:buFont typeface="Arial" panose="020B0604020202020204" pitchFamily="34" charset="0"/>
              <a:buChar char="•"/>
            </a:pPr>
            <a:r>
              <a:rPr lang="" dirty="0"/>
              <a:t>Major costs: </a:t>
            </a:r>
          </a:p>
          <a:p>
            <a:pPr marL="742950" lvl="1" indent="-285750">
              <a:buFont typeface="Arial" panose="020B0604020202020204" pitchFamily="34" charset="0"/>
              <a:buChar char="•"/>
            </a:pPr>
            <a:r>
              <a:rPr lang="" dirty="0"/>
              <a:t>nested-tuple hashing </a:t>
            </a:r>
          </a:p>
          <a:p>
            <a:pPr marL="742950" lvl="1" indent="-285750">
              <a:buFont typeface="Arial" panose="020B0604020202020204" pitchFamily="34" charset="0"/>
              <a:buChar char="•"/>
            </a:pPr>
            <a:r>
              <a:rPr lang="" dirty="0"/>
              <a:t>dictionary lookups in the inner loop </a:t>
            </a:r>
          </a:p>
          <a:p>
            <a:pPr marL="742950" lvl="1" indent="-285750">
              <a:buFont typeface="Arial" panose="020B0604020202020204" pitchFamily="34" charset="0"/>
              <a:buChar char="•"/>
            </a:pPr>
            <a:r>
              <a:rPr lang="" dirty="0"/>
              <a:t>generator-based accumulation </a:t>
            </a:r>
          </a:p>
          <a:p>
            <a:pPr marL="742950" lvl="1" indent="-285750">
              <a:buFont typeface="Arial" panose="020B0604020202020204" pitchFamily="34" charset="0"/>
              <a:buChar char="•"/>
            </a:pPr>
            <a:r>
              <a:rPr lang="" dirty="0"/>
              <a:t>repeated Fraction calculations </a:t>
            </a:r>
          </a:p>
          <a:p>
            <a:pPr marL="285750" lvl="0" indent="-285750">
              <a:buFont typeface="Arial" panose="020B0604020202020204" pitchFamily="34" charset="0"/>
              <a:buChar char="•"/>
            </a:pPr>
            <a:r>
              <a:rPr lang="en-US" dirty="0"/>
              <a:t>A function </a:t>
            </a:r>
            <a:r>
              <a:rPr lang="" i="1" dirty="0">
                <a:highlight>
                  <a:srgbClr val="C0C0C0"/>
                </a:highlight>
              </a:rPr>
              <a:t>getCritDist</a:t>
            </a:r>
            <a:r>
              <a:rPr lang="" dirty="0"/>
              <a:t>: </a:t>
            </a:r>
          </a:p>
          <a:p>
            <a:pPr marL="742950" lvl="1" indent="-285750">
              <a:buFont typeface="Arial" panose="020B0604020202020204" pitchFamily="34" charset="0"/>
              <a:buChar char="•"/>
            </a:pPr>
            <a:r>
              <a:rPr lang="" b="1" dirty="0"/>
              <a:t>3,659 calls</a:t>
            </a:r>
            <a:r>
              <a:rPr lang="" dirty="0"/>
              <a:t> </a:t>
            </a:r>
          </a:p>
          <a:p>
            <a:pPr marL="742950" lvl="1" indent="-285750">
              <a:buFont typeface="Arial" panose="020B0604020202020204" pitchFamily="34" charset="0"/>
              <a:buChar char="•"/>
            </a:pPr>
            <a:r>
              <a:rPr lang="" dirty="0"/>
              <a:t>only </a:t>
            </a:r>
            <a:r>
              <a:rPr lang="" b="1" dirty="0"/>
              <a:t>3 distinct argument combinations</a:t>
            </a:r>
            <a:endParaRPr lang="" dirty="0"/>
          </a:p>
          <a:p>
            <a:pPr marL="285750" indent="-285750">
              <a:buFont typeface="Arial" panose="020B0604020202020204" pitchFamily="34" charset="0"/>
              <a:buChar char="•"/>
            </a:pPr>
            <a:endParaRPr lang="LID4096" dirty="0"/>
          </a:p>
        </p:txBody>
      </p:sp>
      <p:pic>
        <p:nvPicPr>
          <p:cNvPr id="18" name="Graphic 17">
            <a:extLst>
              <a:ext uri="{FF2B5EF4-FFF2-40B4-BE49-F238E27FC236}">
                <a16:creationId xmlns:a16="http://schemas.microsoft.com/office/drawing/2014/main" id="{5FA6CE59-E621-0173-00F6-E79EC220C3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4432275"/>
            <a:ext cx="9900920" cy="2425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MDP — Problems and Optimizations</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822960" y="1325880"/>
            <a:ext cx="5897880" cy="3108960"/>
          </a:xfrm>
          <a:prstGeom prst="rect">
            <a:avLst/>
          </a:prstGeom>
          <a:noFill/>
          <a:ln/>
        </p:spPr>
        <p:txBody>
          <a:bodyPr wrap="square" lIns="254" tIns="254" rIns="254" bIns="254" rtlCol="0" anchor="t">
            <a:normAutofit/>
          </a:bodyPr>
          <a:lstStyle/>
          <a:p>
            <a:pPr marL="285750" lvl="0" indent="-285750">
              <a:buFont typeface="Arial" panose="020B0604020202020204" pitchFamily="34" charset="0"/>
              <a:buChar char="•"/>
            </a:pPr>
            <a:r>
              <a:rPr lang="" b="1" dirty="0"/>
              <a:t>Complex states used as dictionary keys</a:t>
            </a:r>
            <a:r>
              <a:rPr lang="" dirty="0"/>
              <a:t> </a:t>
            </a:r>
          </a:p>
          <a:p>
            <a:pPr marL="742950" lvl="1" indent="-285750">
              <a:buFont typeface="Arial" panose="020B0604020202020204" pitchFamily="34" charset="0"/>
              <a:buChar char="•"/>
            </a:pPr>
            <a:r>
              <a:rPr lang="" dirty="0"/>
              <a:t>assign each state an integer index once </a:t>
            </a:r>
          </a:p>
          <a:p>
            <a:pPr marL="742950" lvl="1" indent="-285750">
              <a:buFont typeface="Arial" panose="020B0604020202020204" pitchFamily="34" charset="0"/>
              <a:buChar char="•"/>
            </a:pPr>
            <a:r>
              <a:rPr lang="" dirty="0"/>
              <a:t>use lower[i] and upper[i] </a:t>
            </a:r>
          </a:p>
          <a:p>
            <a:pPr marL="285750" lvl="0" indent="-285750">
              <a:buFont typeface="Arial" panose="020B0604020202020204" pitchFamily="34" charset="0"/>
              <a:buChar char="•"/>
            </a:pPr>
            <a:r>
              <a:rPr lang="" b="1" dirty="0"/>
              <a:t>Repeated successor lookup</a:t>
            </a:r>
            <a:r>
              <a:rPr lang="" dirty="0"/>
              <a:t> </a:t>
            </a:r>
          </a:p>
          <a:p>
            <a:pPr marL="742950" lvl="1" indent="-285750">
              <a:buFont typeface="Arial" panose="020B0604020202020204" pitchFamily="34" charset="0"/>
              <a:buChar char="•"/>
            </a:pPr>
            <a:r>
              <a:rPr lang="" dirty="0"/>
              <a:t>precompute successor indices and probabilities </a:t>
            </a:r>
          </a:p>
          <a:p>
            <a:pPr marL="285750" lvl="0" indent="-285750">
              <a:buFont typeface="Arial" panose="020B0604020202020204" pitchFamily="34" charset="0"/>
              <a:buChar char="•"/>
            </a:pPr>
            <a:r>
              <a:rPr lang="" b="1" dirty="0"/>
              <a:t>Two separate weighted accumulations</a:t>
            </a:r>
            <a:r>
              <a:rPr lang="" dirty="0"/>
              <a:t> </a:t>
            </a:r>
          </a:p>
          <a:p>
            <a:pPr marL="742950" lvl="1" indent="-285750">
              <a:buFont typeface="Arial" panose="020B0604020202020204" pitchFamily="34" charset="0"/>
              <a:buChar char="•"/>
            </a:pPr>
            <a:r>
              <a:rPr lang="" dirty="0"/>
              <a:t>compute lower and upper values in one loop </a:t>
            </a:r>
          </a:p>
          <a:p>
            <a:pPr marL="285750" lvl="0" indent="-285750">
              <a:buFont typeface="Arial" panose="020B0604020202020204" pitchFamily="34" charset="0"/>
              <a:buChar char="•"/>
            </a:pPr>
            <a:r>
              <a:rPr lang="" b="1" dirty="0"/>
              <a:t>Repeated damage-distribution computation</a:t>
            </a:r>
            <a:r>
              <a:rPr lang="" dirty="0"/>
              <a:t> </a:t>
            </a:r>
          </a:p>
          <a:p>
            <a:pPr marL="742950" lvl="1" indent="-285750">
              <a:buFont typeface="Arial" panose="020B0604020202020204" pitchFamily="34" charset="0"/>
              <a:buChar char="•"/>
            </a:pPr>
            <a:r>
              <a:rPr lang="" dirty="0"/>
              <a:t>memoize getCritDist</a:t>
            </a:r>
          </a:p>
          <a:p>
            <a:pPr marL="177800" indent="-177800">
              <a:buSzPct val="100000"/>
              <a:buChar char="•"/>
            </a:pPr>
            <a:endParaRPr lang="en-US" sz="1620" dirty="0"/>
          </a:p>
        </p:txBody>
      </p:sp>
      <p:sp>
        <p:nvSpPr>
          <p:cNvPr id="6" name="Text 4"/>
          <p:cNvSpPr/>
          <p:nvPr/>
        </p:nvSpPr>
        <p:spPr>
          <a:xfrm>
            <a:off x="932688" y="4988052"/>
            <a:ext cx="4901184" cy="274320"/>
          </a:xfrm>
          <a:prstGeom prst="rect">
            <a:avLst/>
          </a:prstGeom>
          <a:noFill/>
          <a:ln/>
        </p:spPr>
        <p:txBody>
          <a:bodyPr wrap="square" lIns="0" tIns="0" rIns="0" bIns="0" rtlCol="0" anchor="ctr">
            <a:normAutofit/>
          </a:bodyPr>
          <a:lstStyle/>
          <a:p>
            <a:pPr marL="0" indent="0">
              <a:buNone/>
            </a:pPr>
            <a:r>
              <a:rPr lang="en-US" sz="1100" b="1" dirty="0">
                <a:solidFill>
                  <a:srgbClr val="6B4E00"/>
                </a:solidFill>
              </a:rPr>
              <a:t>TODO-add state dictionary to indexed-array diagram</a:t>
            </a:r>
            <a:endParaRPr lang="en-US" sz="1100" dirty="0"/>
          </a:p>
        </p:txBody>
      </p:sp>
      <p:pic>
        <p:nvPicPr>
          <p:cNvPr id="12" name="Picture 11">
            <a:extLst>
              <a:ext uri="{FF2B5EF4-FFF2-40B4-BE49-F238E27FC236}">
                <a16:creationId xmlns:a16="http://schemas.microsoft.com/office/drawing/2014/main" id="{6B6F267B-A40E-7125-32EB-60C3CFC9A82A}"/>
              </a:ext>
            </a:extLst>
          </p:cNvPr>
          <p:cNvPicPr>
            <a:picLocks noChangeAspect="1"/>
          </p:cNvPicPr>
          <p:nvPr/>
        </p:nvPicPr>
        <p:blipFill>
          <a:blip r:embed="rId3"/>
          <a:srcRect l="9466" r="8200"/>
          <a:stretch>
            <a:fillRect/>
          </a:stretch>
        </p:blipFill>
        <p:spPr>
          <a:xfrm>
            <a:off x="6447079" y="932687"/>
            <a:ext cx="5744921" cy="39237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MDP — Effect and Ablation</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777240" y="1298448"/>
            <a:ext cx="1600200" cy="411480"/>
          </a:xfrm>
          <a:prstGeom prst="rect">
            <a:avLst/>
          </a:prstGeom>
          <a:noFill/>
          <a:ln/>
        </p:spPr>
        <p:txBody>
          <a:bodyPr wrap="square" lIns="0" tIns="0" rIns="0" bIns="0" rtlCol="0" anchor="ctr"/>
          <a:lstStyle/>
          <a:p>
            <a:pPr marL="0" indent="0" algn="ctr">
              <a:buNone/>
            </a:pPr>
            <a:r>
              <a:rPr lang="en-US" sz="2500" b="1" dirty="0">
                <a:solidFill>
                  <a:srgbClr val="17324D"/>
                </a:solidFill>
              </a:rPr>
              <a:t>5.098 s</a:t>
            </a:r>
            <a:endParaRPr lang="en-US" sz="2500" dirty="0"/>
          </a:p>
        </p:txBody>
      </p:sp>
      <p:sp>
        <p:nvSpPr>
          <p:cNvPr id="5" name="Text 3"/>
          <p:cNvSpPr/>
          <p:nvPr/>
        </p:nvSpPr>
        <p:spPr>
          <a:xfrm>
            <a:off x="77724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baseline</a:t>
            </a:r>
            <a:endParaRPr lang="en-US" sz="1000" dirty="0"/>
          </a:p>
        </p:txBody>
      </p:sp>
      <p:sp>
        <p:nvSpPr>
          <p:cNvPr id="6" name="Text 4"/>
          <p:cNvSpPr/>
          <p:nvPr/>
        </p:nvSpPr>
        <p:spPr>
          <a:xfrm>
            <a:off x="2697480" y="1298448"/>
            <a:ext cx="1600200" cy="411480"/>
          </a:xfrm>
          <a:prstGeom prst="rect">
            <a:avLst/>
          </a:prstGeom>
          <a:noFill/>
          <a:ln/>
        </p:spPr>
        <p:txBody>
          <a:bodyPr wrap="square" lIns="0" tIns="0" rIns="0" bIns="0" rtlCol="0" anchor="ctr"/>
          <a:lstStyle/>
          <a:p>
            <a:pPr marL="0" indent="0" algn="ctr">
              <a:buNone/>
            </a:pPr>
            <a:r>
              <a:rPr lang="en-US" sz="2500" b="1" dirty="0">
                <a:solidFill>
                  <a:srgbClr val="3D7A5F"/>
                </a:solidFill>
              </a:rPr>
              <a:t>1.309 s</a:t>
            </a:r>
            <a:endParaRPr lang="en-US" sz="2500" dirty="0"/>
          </a:p>
        </p:txBody>
      </p:sp>
      <p:sp>
        <p:nvSpPr>
          <p:cNvPr id="7" name="Text 5"/>
          <p:cNvSpPr/>
          <p:nvPr/>
        </p:nvSpPr>
        <p:spPr>
          <a:xfrm>
            <a:off x="269748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optimized</a:t>
            </a:r>
            <a:endParaRPr lang="en-US" sz="1000" dirty="0"/>
          </a:p>
        </p:txBody>
      </p:sp>
      <p:sp>
        <p:nvSpPr>
          <p:cNvPr id="8" name="Text 6"/>
          <p:cNvSpPr/>
          <p:nvPr/>
        </p:nvSpPr>
        <p:spPr>
          <a:xfrm>
            <a:off x="4617720" y="1298448"/>
            <a:ext cx="1600200" cy="411480"/>
          </a:xfrm>
          <a:prstGeom prst="rect">
            <a:avLst/>
          </a:prstGeom>
          <a:noFill/>
          <a:ln/>
        </p:spPr>
        <p:txBody>
          <a:bodyPr wrap="square" lIns="0" tIns="0" rIns="0" bIns="0" rtlCol="0" anchor="ctr"/>
          <a:lstStyle/>
          <a:p>
            <a:pPr marL="0" indent="0" algn="ctr">
              <a:buNone/>
            </a:pPr>
            <a:r>
              <a:rPr lang="en-US" sz="2500" b="1" dirty="0">
                <a:solidFill>
                  <a:srgbClr val="17324D"/>
                </a:solidFill>
              </a:rPr>
              <a:t>3.90×</a:t>
            </a:r>
            <a:endParaRPr lang="en-US" sz="2500" dirty="0"/>
          </a:p>
        </p:txBody>
      </p:sp>
      <p:sp>
        <p:nvSpPr>
          <p:cNvPr id="9" name="Text 7"/>
          <p:cNvSpPr/>
          <p:nvPr/>
        </p:nvSpPr>
        <p:spPr>
          <a:xfrm>
            <a:off x="4617720" y="1737360"/>
            <a:ext cx="1600200" cy="256032"/>
          </a:xfrm>
          <a:prstGeom prst="rect">
            <a:avLst/>
          </a:prstGeom>
          <a:noFill/>
          <a:ln/>
        </p:spPr>
        <p:txBody>
          <a:bodyPr wrap="square" lIns="0" tIns="0" rIns="0" bIns="0" rtlCol="0" anchor="ctr"/>
          <a:lstStyle/>
          <a:p>
            <a:pPr marL="0" indent="0" algn="ctr">
              <a:buNone/>
            </a:pPr>
            <a:r>
              <a:rPr lang="en-US" sz="1000" dirty="0">
                <a:solidFill>
                  <a:srgbClr val="607083"/>
                </a:solidFill>
              </a:rPr>
              <a:t>speedup</a:t>
            </a:r>
            <a:endParaRPr lang="en-US" sz="1000" dirty="0"/>
          </a:p>
        </p:txBody>
      </p:sp>
      <p:sp>
        <p:nvSpPr>
          <p:cNvPr id="10" name="Text 8"/>
          <p:cNvSpPr/>
          <p:nvPr/>
        </p:nvSpPr>
        <p:spPr>
          <a:xfrm>
            <a:off x="6537960" y="1298448"/>
            <a:ext cx="1828800" cy="411480"/>
          </a:xfrm>
          <a:prstGeom prst="rect">
            <a:avLst/>
          </a:prstGeom>
          <a:noFill/>
          <a:ln/>
        </p:spPr>
        <p:txBody>
          <a:bodyPr wrap="square" lIns="0" tIns="0" rIns="0" bIns="0" rtlCol="0" anchor="ctr"/>
          <a:lstStyle/>
          <a:p>
            <a:pPr marL="0" indent="0" algn="ctr">
              <a:buNone/>
            </a:pPr>
            <a:r>
              <a:rPr lang="en-US" sz="2500" b="1" dirty="0">
                <a:solidFill>
                  <a:srgbClr val="3D7A5F"/>
                </a:solidFill>
              </a:rPr>
              <a:t>74.3%</a:t>
            </a:r>
            <a:endParaRPr lang="en-US" sz="2500" dirty="0"/>
          </a:p>
        </p:txBody>
      </p:sp>
      <p:sp>
        <p:nvSpPr>
          <p:cNvPr id="11" name="Text 9"/>
          <p:cNvSpPr/>
          <p:nvPr/>
        </p:nvSpPr>
        <p:spPr>
          <a:xfrm>
            <a:off x="6537960" y="1737360"/>
            <a:ext cx="1828800" cy="256032"/>
          </a:xfrm>
          <a:prstGeom prst="rect">
            <a:avLst/>
          </a:prstGeom>
          <a:noFill/>
          <a:ln/>
        </p:spPr>
        <p:txBody>
          <a:bodyPr wrap="square" lIns="0" tIns="0" rIns="0" bIns="0" rtlCol="0" anchor="ctr"/>
          <a:lstStyle/>
          <a:p>
            <a:pPr marL="0" indent="0" algn="ctr">
              <a:buNone/>
            </a:pPr>
            <a:r>
              <a:rPr lang="en-US" sz="1000" dirty="0">
                <a:solidFill>
                  <a:srgbClr val="607083"/>
                </a:solidFill>
              </a:rPr>
              <a:t>runtime reduction</a:t>
            </a:r>
            <a:endParaRPr lang="en-US" sz="1000" dirty="0"/>
          </a:p>
        </p:txBody>
      </p:sp>
      <p:sp>
        <p:nvSpPr>
          <p:cNvPr id="12" name="Text 10"/>
          <p:cNvSpPr/>
          <p:nvPr/>
        </p:nvSpPr>
        <p:spPr>
          <a:xfrm>
            <a:off x="822960" y="2377440"/>
            <a:ext cx="3291840" cy="228600"/>
          </a:xfrm>
          <a:prstGeom prst="rect">
            <a:avLst/>
          </a:prstGeom>
          <a:noFill/>
          <a:ln/>
        </p:spPr>
        <p:txBody>
          <a:bodyPr wrap="square" lIns="0" tIns="0" rIns="0" bIns="0" rtlCol="0" anchor="ctr"/>
          <a:lstStyle/>
          <a:p>
            <a:pPr marL="0" indent="0">
              <a:buNone/>
            </a:pPr>
            <a:r>
              <a:rPr lang="en-US" sz="1200" b="1" dirty="0">
                <a:solidFill>
                  <a:srgbClr val="58799C"/>
                </a:solidFill>
              </a:rPr>
              <a:t>Ablation runtime, ms</a:t>
            </a:r>
            <a:endParaRPr lang="en-US" sz="1200" dirty="0"/>
          </a:p>
        </p:txBody>
      </p:sp>
      <p:sp>
        <p:nvSpPr>
          <p:cNvPr id="13" name="Shape 11"/>
          <p:cNvSpPr/>
          <p:nvPr/>
        </p:nvSpPr>
        <p:spPr>
          <a:xfrm>
            <a:off x="868680" y="4709160"/>
            <a:ext cx="5577840" cy="0"/>
          </a:xfrm>
          <a:prstGeom prst="line">
            <a:avLst/>
          </a:prstGeom>
          <a:noFill/>
          <a:ln w="12700">
            <a:solidFill>
              <a:srgbClr val="D6DEE8"/>
            </a:solidFill>
            <a:prstDash val="solid"/>
          </a:ln>
        </p:spPr>
        <p:txBody>
          <a:bodyPr/>
          <a:lstStyle/>
          <a:p>
            <a:endParaRPr lang="LID4096"/>
          </a:p>
        </p:txBody>
      </p:sp>
      <p:sp>
        <p:nvSpPr>
          <p:cNvPr id="14" name="Shape 12"/>
          <p:cNvSpPr/>
          <p:nvPr/>
        </p:nvSpPr>
        <p:spPr>
          <a:xfrm>
            <a:off x="1463040" y="4177629"/>
            <a:ext cx="1066800" cy="531531"/>
          </a:xfrm>
          <a:prstGeom prst="rect">
            <a:avLst/>
          </a:prstGeom>
          <a:solidFill>
            <a:srgbClr val="3D7A5F"/>
          </a:solidFill>
          <a:ln w="12700">
            <a:solidFill>
              <a:srgbClr val="3D7A5F">
                <a:alpha val="0"/>
              </a:srgbClr>
            </a:solidFill>
            <a:prstDash val="solid"/>
          </a:ln>
        </p:spPr>
        <p:txBody>
          <a:bodyPr/>
          <a:lstStyle/>
          <a:p>
            <a:endParaRPr lang="LID4096"/>
          </a:p>
        </p:txBody>
      </p:sp>
      <p:sp>
        <p:nvSpPr>
          <p:cNvPr id="15" name="Text 13"/>
          <p:cNvSpPr/>
          <p:nvPr/>
        </p:nvSpPr>
        <p:spPr>
          <a:xfrm>
            <a:off x="1417320" y="3866733"/>
            <a:ext cx="1158240" cy="219456"/>
          </a:xfrm>
          <a:prstGeom prst="rect">
            <a:avLst/>
          </a:prstGeom>
          <a:noFill/>
          <a:ln/>
        </p:spPr>
        <p:txBody>
          <a:bodyPr wrap="square" lIns="0" tIns="0" rIns="0" bIns="0" rtlCol="0" anchor="ctr"/>
          <a:lstStyle/>
          <a:p>
            <a:pPr marL="0" indent="0" algn="ctr">
              <a:buNone/>
            </a:pPr>
            <a:r>
              <a:rPr lang="en-US" sz="1050" b="1" dirty="0">
                <a:solidFill>
                  <a:srgbClr val="1F2937"/>
                </a:solidFill>
              </a:rPr>
              <a:t>1308</a:t>
            </a:r>
            <a:endParaRPr lang="en-US" sz="1050" dirty="0"/>
          </a:p>
        </p:txBody>
      </p:sp>
      <p:sp>
        <p:nvSpPr>
          <p:cNvPr id="16" name="Text 14"/>
          <p:cNvSpPr/>
          <p:nvPr/>
        </p:nvSpPr>
        <p:spPr>
          <a:xfrm>
            <a:off x="1298448" y="4818888"/>
            <a:ext cx="139598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Optimized</a:t>
            </a:r>
            <a:endParaRPr lang="en-US" sz="920" dirty="0"/>
          </a:p>
        </p:txBody>
      </p:sp>
      <p:sp>
        <p:nvSpPr>
          <p:cNvPr id="17" name="Shape 15"/>
          <p:cNvSpPr/>
          <p:nvPr/>
        </p:nvSpPr>
        <p:spPr>
          <a:xfrm>
            <a:off x="3124200" y="3019064"/>
            <a:ext cx="1066800" cy="1690096"/>
          </a:xfrm>
          <a:prstGeom prst="rect">
            <a:avLst/>
          </a:prstGeom>
          <a:solidFill>
            <a:srgbClr val="58799C"/>
          </a:solidFill>
          <a:ln w="12700">
            <a:solidFill>
              <a:srgbClr val="58799C">
                <a:alpha val="0"/>
              </a:srgbClr>
            </a:solidFill>
            <a:prstDash val="solid"/>
          </a:ln>
        </p:spPr>
        <p:txBody>
          <a:bodyPr/>
          <a:lstStyle/>
          <a:p>
            <a:endParaRPr lang="LID4096"/>
          </a:p>
        </p:txBody>
      </p:sp>
      <p:sp>
        <p:nvSpPr>
          <p:cNvPr id="18" name="Text 16"/>
          <p:cNvSpPr/>
          <p:nvPr/>
        </p:nvSpPr>
        <p:spPr>
          <a:xfrm>
            <a:off x="3078480" y="2708168"/>
            <a:ext cx="1158240" cy="219456"/>
          </a:xfrm>
          <a:prstGeom prst="rect">
            <a:avLst/>
          </a:prstGeom>
          <a:noFill/>
          <a:ln/>
        </p:spPr>
        <p:txBody>
          <a:bodyPr wrap="square" lIns="0" tIns="0" rIns="0" bIns="0" rtlCol="0" anchor="ctr"/>
          <a:lstStyle/>
          <a:p>
            <a:pPr marL="0" indent="0" algn="ctr">
              <a:buNone/>
            </a:pPr>
            <a:r>
              <a:rPr lang="en-US" sz="1050" b="1" dirty="0">
                <a:solidFill>
                  <a:srgbClr val="1F2937"/>
                </a:solidFill>
              </a:rPr>
              <a:t>4159</a:t>
            </a:r>
            <a:endParaRPr lang="en-US" sz="1050" dirty="0"/>
          </a:p>
        </p:txBody>
      </p:sp>
      <p:sp>
        <p:nvSpPr>
          <p:cNvPr id="19" name="Text 17"/>
          <p:cNvSpPr/>
          <p:nvPr/>
        </p:nvSpPr>
        <p:spPr>
          <a:xfrm>
            <a:off x="2959608" y="4818888"/>
            <a:ext cx="139598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No indexed</a:t>
            </a:r>
            <a:endParaRPr lang="en-US" sz="920" dirty="0"/>
          </a:p>
          <a:p>
            <a:pPr marL="0" indent="0" algn="ctr">
              <a:buNone/>
            </a:pPr>
            <a:r>
              <a:rPr lang="en-US" sz="920" dirty="0">
                <a:solidFill>
                  <a:srgbClr val="607083"/>
                </a:solidFill>
              </a:rPr>
              <a:t>sweep</a:t>
            </a:r>
            <a:endParaRPr lang="en-US" sz="920" dirty="0"/>
          </a:p>
        </p:txBody>
      </p:sp>
      <p:sp>
        <p:nvSpPr>
          <p:cNvPr id="20" name="Shape 18"/>
          <p:cNvSpPr/>
          <p:nvPr/>
        </p:nvSpPr>
        <p:spPr>
          <a:xfrm>
            <a:off x="4785360" y="3838814"/>
            <a:ext cx="1066800" cy="870346"/>
          </a:xfrm>
          <a:prstGeom prst="rect">
            <a:avLst/>
          </a:prstGeom>
          <a:solidFill>
            <a:srgbClr val="8FA3BF"/>
          </a:solidFill>
          <a:ln w="12700">
            <a:solidFill>
              <a:srgbClr val="8FA3BF">
                <a:alpha val="0"/>
              </a:srgbClr>
            </a:solidFill>
            <a:prstDash val="solid"/>
          </a:ln>
        </p:spPr>
        <p:txBody>
          <a:bodyPr/>
          <a:lstStyle/>
          <a:p>
            <a:endParaRPr lang="LID4096"/>
          </a:p>
        </p:txBody>
      </p:sp>
      <p:sp>
        <p:nvSpPr>
          <p:cNvPr id="21" name="Text 19"/>
          <p:cNvSpPr/>
          <p:nvPr/>
        </p:nvSpPr>
        <p:spPr>
          <a:xfrm>
            <a:off x="4739640" y="3527918"/>
            <a:ext cx="1158240" cy="219456"/>
          </a:xfrm>
          <a:prstGeom prst="rect">
            <a:avLst/>
          </a:prstGeom>
          <a:noFill/>
          <a:ln/>
        </p:spPr>
        <p:txBody>
          <a:bodyPr wrap="square" lIns="0" tIns="0" rIns="0" bIns="0" rtlCol="0" anchor="ctr"/>
          <a:lstStyle/>
          <a:p>
            <a:pPr marL="0" indent="0" algn="ctr">
              <a:buNone/>
            </a:pPr>
            <a:r>
              <a:rPr lang="en-US" sz="1050" b="1" dirty="0">
                <a:solidFill>
                  <a:srgbClr val="1F2937"/>
                </a:solidFill>
              </a:rPr>
              <a:t>2142</a:t>
            </a:r>
            <a:endParaRPr lang="en-US" sz="1050" dirty="0"/>
          </a:p>
        </p:txBody>
      </p:sp>
      <p:sp>
        <p:nvSpPr>
          <p:cNvPr id="22" name="Text 20"/>
          <p:cNvSpPr/>
          <p:nvPr/>
        </p:nvSpPr>
        <p:spPr>
          <a:xfrm>
            <a:off x="4620768" y="4818888"/>
            <a:ext cx="139598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No memoization</a:t>
            </a:r>
            <a:endParaRPr lang="en-US" sz="920" dirty="0"/>
          </a:p>
        </p:txBody>
      </p:sp>
      <p:sp>
        <p:nvSpPr>
          <p:cNvPr id="23" name="Text 21"/>
          <p:cNvSpPr/>
          <p:nvPr/>
        </p:nvSpPr>
        <p:spPr>
          <a:xfrm>
            <a:off x="7406640" y="2514600"/>
            <a:ext cx="2743200" cy="237744"/>
          </a:xfrm>
          <a:prstGeom prst="rect">
            <a:avLst/>
          </a:prstGeom>
          <a:noFill/>
          <a:ln/>
        </p:spPr>
        <p:txBody>
          <a:bodyPr wrap="square" lIns="0" tIns="0" rIns="0" bIns="0" rtlCol="0" anchor="ctr"/>
          <a:lstStyle/>
          <a:p>
            <a:pPr marL="0" indent="0">
              <a:buNone/>
            </a:pPr>
            <a:r>
              <a:rPr lang="en-US" sz="1200" b="1" dirty="0">
                <a:solidFill>
                  <a:srgbClr val="58799C"/>
                </a:solidFill>
              </a:rPr>
              <a:t>Interpretation</a:t>
            </a:r>
            <a:endParaRPr lang="en-US" sz="1200" dirty="0"/>
          </a:p>
        </p:txBody>
      </p:sp>
      <p:sp>
        <p:nvSpPr>
          <p:cNvPr id="24" name="Text 22"/>
          <p:cNvSpPr/>
          <p:nvPr/>
        </p:nvSpPr>
        <p:spPr>
          <a:xfrm>
            <a:off x="7406640" y="2944368"/>
            <a:ext cx="3749040" cy="1691640"/>
          </a:xfrm>
          <a:prstGeom prst="rect">
            <a:avLst/>
          </a:prstGeom>
          <a:noFill/>
          <a:ln/>
        </p:spPr>
        <p:txBody>
          <a:bodyPr wrap="square" lIns="254" tIns="254" rIns="254" bIns="254" rtlCol="0" anchor="t">
            <a:normAutofit/>
          </a:bodyPr>
          <a:lstStyle/>
          <a:p>
            <a:pPr marL="177800" indent="-177800">
              <a:buSzPct val="100000"/>
              <a:buChar char="•"/>
            </a:pPr>
            <a:r>
              <a:rPr lang="en-US" sz="1450" dirty="0">
                <a:solidFill>
                  <a:srgbClr val="1F2937"/>
                </a:solidFill>
                <a:latin typeface="Aptos" pitchFamily="34" charset="0"/>
                <a:ea typeface="Aptos" pitchFamily="34" charset="-122"/>
                <a:cs typeface="Aptos" pitchFamily="34" charset="-120"/>
              </a:rPr>
              <a:t>Indexed representation and rewritten sweep dominate</a:t>
            </a:r>
            <a:endParaRPr lang="en-US" sz="1450" dirty="0"/>
          </a:p>
          <a:p>
            <a:pPr marL="177800" indent="-177800">
              <a:buSzPct val="100000"/>
              <a:buChar char="•"/>
            </a:pPr>
            <a:r>
              <a:rPr lang="en-US" sz="1450" dirty="0">
                <a:solidFill>
                  <a:srgbClr val="1F2937"/>
                </a:solidFill>
                <a:latin typeface="Aptos" pitchFamily="34" charset="0"/>
                <a:ea typeface="Aptos" pitchFamily="34" charset="-122"/>
                <a:cs typeface="Aptos" pitchFamily="34" charset="-120"/>
              </a:rPr>
              <a:t>Memoization gives a large additional reduction</a:t>
            </a:r>
            <a:endParaRPr lang="en-US" sz="1450" dirty="0"/>
          </a:p>
          <a:p>
            <a:pPr marL="177800" indent="-177800">
              <a:buSzPct val="100000"/>
              <a:buChar char="•"/>
            </a:pPr>
            <a:r>
              <a:rPr lang="en-US" sz="1450" dirty="0">
                <a:solidFill>
                  <a:srgbClr val="1F2937"/>
                </a:solidFill>
                <a:latin typeface="Aptos" pitchFamily="34" charset="0"/>
                <a:ea typeface="Aptos" pitchFamily="34" charset="-122"/>
                <a:cs typeface="Aptos" pitchFamily="34" charset="-120"/>
              </a:rPr>
              <a:t>Same stopping rule and value computation are preserved</a:t>
            </a:r>
            <a:endParaRPr lang="en-US" sz="145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Overall Software Results</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594360" y="1024128"/>
            <a:ext cx="10789920" cy="274320"/>
          </a:xfrm>
          <a:prstGeom prst="rect">
            <a:avLst/>
          </a:prstGeom>
          <a:noFill/>
          <a:ln/>
        </p:spPr>
        <p:txBody>
          <a:bodyPr wrap="square" lIns="0" tIns="0" rIns="0" bIns="0" rtlCol="0" anchor="ctr"/>
          <a:lstStyle/>
          <a:p>
            <a:pPr marL="0" indent="0">
              <a:buNone/>
            </a:pPr>
            <a:r>
              <a:rPr lang="en-US" sz="1150" dirty="0">
                <a:solidFill>
                  <a:srgbClr val="607083"/>
                </a:solidFill>
              </a:rPr>
              <a:t>Measured improvements on the saved benchmark workloads.</a:t>
            </a:r>
            <a:endParaRPr lang="en-US" sz="1150" dirty="0"/>
          </a:p>
        </p:txBody>
      </p:sp>
      <p:sp>
        <p:nvSpPr>
          <p:cNvPr id="5" name="Shape 3"/>
          <p:cNvSpPr/>
          <p:nvPr/>
        </p:nvSpPr>
        <p:spPr>
          <a:xfrm>
            <a:off x="868680" y="4389120"/>
            <a:ext cx="6126480" cy="0"/>
          </a:xfrm>
          <a:prstGeom prst="line">
            <a:avLst/>
          </a:prstGeom>
          <a:noFill/>
          <a:ln w="12700">
            <a:solidFill>
              <a:srgbClr val="D6DEE8"/>
            </a:solidFill>
            <a:prstDash val="solid"/>
          </a:ln>
        </p:spPr>
        <p:txBody>
          <a:bodyPr/>
          <a:lstStyle/>
          <a:p>
            <a:endParaRPr lang="LID4096"/>
          </a:p>
        </p:txBody>
      </p:sp>
      <p:sp>
        <p:nvSpPr>
          <p:cNvPr id="6" name="Shape 4"/>
          <p:cNvSpPr/>
          <p:nvPr/>
        </p:nvSpPr>
        <p:spPr>
          <a:xfrm>
            <a:off x="1325880" y="3810546"/>
            <a:ext cx="960120" cy="578574"/>
          </a:xfrm>
          <a:prstGeom prst="rect">
            <a:avLst/>
          </a:prstGeom>
          <a:solidFill>
            <a:srgbClr val="8FA3BF"/>
          </a:solidFill>
          <a:ln w="12700">
            <a:solidFill>
              <a:srgbClr val="8FA3BF">
                <a:alpha val="0"/>
              </a:srgbClr>
            </a:solidFill>
            <a:prstDash val="solid"/>
          </a:ln>
        </p:spPr>
        <p:txBody>
          <a:bodyPr/>
          <a:lstStyle/>
          <a:p>
            <a:endParaRPr lang="LID4096"/>
          </a:p>
        </p:txBody>
      </p:sp>
      <p:sp>
        <p:nvSpPr>
          <p:cNvPr id="7" name="Text 5"/>
          <p:cNvSpPr/>
          <p:nvPr/>
        </p:nvSpPr>
        <p:spPr>
          <a:xfrm>
            <a:off x="1280160" y="3499650"/>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1.141s</a:t>
            </a:r>
            <a:endParaRPr lang="en-US" sz="1050" dirty="0"/>
          </a:p>
        </p:txBody>
      </p:sp>
      <p:sp>
        <p:nvSpPr>
          <p:cNvPr id="8" name="Text 6"/>
          <p:cNvSpPr/>
          <p:nvPr/>
        </p:nvSpPr>
        <p:spPr>
          <a:xfrm>
            <a:off x="1161288" y="449884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Pyflate</a:t>
            </a:r>
            <a:endParaRPr lang="en-US" sz="920" dirty="0"/>
          </a:p>
          <a:p>
            <a:pPr marL="0" indent="0" algn="ctr">
              <a:buNone/>
            </a:pPr>
            <a:r>
              <a:rPr lang="en-US" sz="920" dirty="0">
                <a:solidFill>
                  <a:srgbClr val="607083"/>
                </a:solidFill>
              </a:rPr>
              <a:t>original</a:t>
            </a:r>
            <a:endParaRPr lang="en-US" sz="920" dirty="0"/>
          </a:p>
        </p:txBody>
      </p:sp>
      <p:sp>
        <p:nvSpPr>
          <p:cNvPr id="9" name="Shape 7"/>
          <p:cNvSpPr/>
          <p:nvPr/>
        </p:nvSpPr>
        <p:spPr>
          <a:xfrm>
            <a:off x="2743200" y="4142174"/>
            <a:ext cx="960120" cy="246946"/>
          </a:xfrm>
          <a:prstGeom prst="rect">
            <a:avLst/>
          </a:prstGeom>
          <a:solidFill>
            <a:srgbClr val="3D7A5F"/>
          </a:solidFill>
          <a:ln w="12700">
            <a:solidFill>
              <a:srgbClr val="3D7A5F">
                <a:alpha val="0"/>
              </a:srgbClr>
            </a:solidFill>
            <a:prstDash val="solid"/>
          </a:ln>
        </p:spPr>
        <p:txBody>
          <a:bodyPr/>
          <a:lstStyle/>
          <a:p>
            <a:endParaRPr lang="LID4096"/>
          </a:p>
        </p:txBody>
      </p:sp>
      <p:sp>
        <p:nvSpPr>
          <p:cNvPr id="10" name="Text 8"/>
          <p:cNvSpPr/>
          <p:nvPr/>
        </p:nvSpPr>
        <p:spPr>
          <a:xfrm>
            <a:off x="2697480" y="3831278"/>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0.487s</a:t>
            </a:r>
            <a:endParaRPr lang="en-US" sz="1050" dirty="0"/>
          </a:p>
        </p:txBody>
      </p:sp>
      <p:sp>
        <p:nvSpPr>
          <p:cNvPr id="11" name="Text 9"/>
          <p:cNvSpPr/>
          <p:nvPr/>
        </p:nvSpPr>
        <p:spPr>
          <a:xfrm>
            <a:off x="2578608" y="449884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Pyflate</a:t>
            </a:r>
            <a:endParaRPr lang="en-US" sz="920" dirty="0"/>
          </a:p>
          <a:p>
            <a:pPr marL="0" indent="0" algn="ctr">
              <a:buNone/>
            </a:pPr>
            <a:r>
              <a:rPr lang="en-US" sz="920" dirty="0">
                <a:solidFill>
                  <a:srgbClr val="607083"/>
                </a:solidFill>
              </a:rPr>
              <a:t>optimized</a:t>
            </a:r>
            <a:endParaRPr lang="en-US" sz="920" dirty="0"/>
          </a:p>
        </p:txBody>
      </p:sp>
      <p:sp>
        <p:nvSpPr>
          <p:cNvPr id="12" name="Shape 10"/>
          <p:cNvSpPr/>
          <p:nvPr/>
        </p:nvSpPr>
        <p:spPr>
          <a:xfrm>
            <a:off x="4160520" y="1804045"/>
            <a:ext cx="960120" cy="2585075"/>
          </a:xfrm>
          <a:prstGeom prst="rect">
            <a:avLst/>
          </a:prstGeom>
          <a:solidFill>
            <a:srgbClr val="8FA3BF"/>
          </a:solidFill>
          <a:ln w="12700">
            <a:solidFill>
              <a:srgbClr val="8FA3BF">
                <a:alpha val="0"/>
              </a:srgbClr>
            </a:solidFill>
            <a:prstDash val="solid"/>
          </a:ln>
        </p:spPr>
        <p:txBody>
          <a:bodyPr/>
          <a:lstStyle/>
          <a:p>
            <a:endParaRPr lang="LID4096"/>
          </a:p>
        </p:txBody>
      </p:sp>
      <p:sp>
        <p:nvSpPr>
          <p:cNvPr id="13" name="Text 11"/>
          <p:cNvSpPr/>
          <p:nvPr/>
        </p:nvSpPr>
        <p:spPr>
          <a:xfrm>
            <a:off x="4114800" y="1493149"/>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5.098s</a:t>
            </a:r>
            <a:endParaRPr lang="en-US" sz="1050" dirty="0"/>
          </a:p>
        </p:txBody>
      </p:sp>
      <p:sp>
        <p:nvSpPr>
          <p:cNvPr id="14" name="Text 12"/>
          <p:cNvSpPr/>
          <p:nvPr/>
        </p:nvSpPr>
        <p:spPr>
          <a:xfrm>
            <a:off x="3995928" y="449884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MDP</a:t>
            </a:r>
            <a:endParaRPr lang="en-US" sz="920" dirty="0"/>
          </a:p>
          <a:p>
            <a:pPr marL="0" indent="0" algn="ctr">
              <a:buNone/>
            </a:pPr>
            <a:r>
              <a:rPr lang="en-US" sz="920" dirty="0">
                <a:solidFill>
                  <a:srgbClr val="607083"/>
                </a:solidFill>
              </a:rPr>
              <a:t>original</a:t>
            </a:r>
            <a:endParaRPr lang="en-US" sz="920" dirty="0"/>
          </a:p>
        </p:txBody>
      </p:sp>
      <p:sp>
        <p:nvSpPr>
          <p:cNvPr id="15" name="Shape 13"/>
          <p:cNvSpPr/>
          <p:nvPr/>
        </p:nvSpPr>
        <p:spPr>
          <a:xfrm>
            <a:off x="5577840" y="3725357"/>
            <a:ext cx="960120" cy="663763"/>
          </a:xfrm>
          <a:prstGeom prst="rect">
            <a:avLst/>
          </a:prstGeom>
          <a:solidFill>
            <a:srgbClr val="3D7A5F"/>
          </a:solidFill>
          <a:ln w="12700">
            <a:solidFill>
              <a:srgbClr val="3D7A5F">
                <a:alpha val="0"/>
              </a:srgbClr>
            </a:solidFill>
            <a:prstDash val="solid"/>
          </a:ln>
        </p:spPr>
        <p:txBody>
          <a:bodyPr/>
          <a:lstStyle/>
          <a:p>
            <a:endParaRPr lang="LID4096"/>
          </a:p>
        </p:txBody>
      </p:sp>
      <p:sp>
        <p:nvSpPr>
          <p:cNvPr id="16" name="Text 14"/>
          <p:cNvSpPr/>
          <p:nvPr/>
        </p:nvSpPr>
        <p:spPr>
          <a:xfrm>
            <a:off x="5532120" y="3414461"/>
            <a:ext cx="1051560" cy="219456"/>
          </a:xfrm>
          <a:prstGeom prst="rect">
            <a:avLst/>
          </a:prstGeom>
          <a:noFill/>
          <a:ln/>
        </p:spPr>
        <p:txBody>
          <a:bodyPr wrap="square" lIns="0" tIns="0" rIns="0" bIns="0" rtlCol="0" anchor="ctr"/>
          <a:lstStyle/>
          <a:p>
            <a:pPr marL="0" indent="0" algn="ctr">
              <a:buNone/>
            </a:pPr>
            <a:r>
              <a:rPr lang="en-US" sz="1050" b="1" dirty="0">
                <a:solidFill>
                  <a:srgbClr val="1F2937"/>
                </a:solidFill>
              </a:rPr>
              <a:t>1.309s</a:t>
            </a:r>
            <a:endParaRPr lang="en-US" sz="1050" dirty="0"/>
          </a:p>
        </p:txBody>
      </p:sp>
      <p:sp>
        <p:nvSpPr>
          <p:cNvPr id="17" name="Text 15"/>
          <p:cNvSpPr/>
          <p:nvPr/>
        </p:nvSpPr>
        <p:spPr>
          <a:xfrm>
            <a:off x="5413248" y="4498848"/>
            <a:ext cx="1289304" cy="420624"/>
          </a:xfrm>
          <a:prstGeom prst="rect">
            <a:avLst/>
          </a:prstGeom>
          <a:noFill/>
          <a:ln/>
        </p:spPr>
        <p:txBody>
          <a:bodyPr wrap="square" lIns="0" tIns="0" rIns="0" bIns="0" rtlCol="0" anchor="ctr">
            <a:normAutofit/>
          </a:bodyPr>
          <a:lstStyle/>
          <a:p>
            <a:pPr marL="0" indent="0" algn="ctr">
              <a:buNone/>
            </a:pPr>
            <a:r>
              <a:rPr lang="en-US" sz="920" dirty="0">
                <a:solidFill>
                  <a:srgbClr val="607083"/>
                </a:solidFill>
              </a:rPr>
              <a:t>MDP</a:t>
            </a:r>
            <a:endParaRPr lang="en-US" sz="920" dirty="0"/>
          </a:p>
          <a:p>
            <a:pPr marL="0" indent="0" algn="ctr">
              <a:buNone/>
            </a:pPr>
            <a:r>
              <a:rPr lang="en-US" sz="920" dirty="0">
                <a:solidFill>
                  <a:srgbClr val="607083"/>
                </a:solidFill>
              </a:rPr>
              <a:t>optimized</a:t>
            </a:r>
            <a:endParaRPr lang="en-US" sz="920" dirty="0"/>
          </a:p>
        </p:txBody>
      </p:sp>
      <p:sp>
        <p:nvSpPr>
          <p:cNvPr id="18" name="Text 16"/>
          <p:cNvSpPr/>
          <p:nvPr/>
        </p:nvSpPr>
        <p:spPr>
          <a:xfrm>
            <a:off x="7589520" y="1572768"/>
            <a:ext cx="1737360" cy="411480"/>
          </a:xfrm>
          <a:prstGeom prst="rect">
            <a:avLst/>
          </a:prstGeom>
          <a:noFill/>
          <a:ln/>
        </p:spPr>
        <p:txBody>
          <a:bodyPr wrap="square" lIns="0" tIns="0" rIns="0" bIns="0" rtlCol="0" anchor="ctr"/>
          <a:lstStyle/>
          <a:p>
            <a:pPr marL="0" indent="0" algn="ctr">
              <a:buNone/>
            </a:pPr>
            <a:r>
              <a:rPr lang="en-US" sz="2500" b="1" dirty="0">
                <a:solidFill>
                  <a:srgbClr val="17324D"/>
                </a:solidFill>
              </a:rPr>
              <a:t>2.34×</a:t>
            </a:r>
            <a:endParaRPr lang="en-US" sz="2500" dirty="0"/>
          </a:p>
        </p:txBody>
      </p:sp>
      <p:sp>
        <p:nvSpPr>
          <p:cNvPr id="19" name="Text 17"/>
          <p:cNvSpPr/>
          <p:nvPr/>
        </p:nvSpPr>
        <p:spPr>
          <a:xfrm>
            <a:off x="7589520" y="2011680"/>
            <a:ext cx="1737360" cy="256032"/>
          </a:xfrm>
          <a:prstGeom prst="rect">
            <a:avLst/>
          </a:prstGeom>
          <a:noFill/>
          <a:ln/>
        </p:spPr>
        <p:txBody>
          <a:bodyPr wrap="square" lIns="0" tIns="0" rIns="0" bIns="0" rtlCol="0" anchor="ctr"/>
          <a:lstStyle/>
          <a:p>
            <a:pPr marL="0" indent="0" algn="ctr">
              <a:buNone/>
            </a:pPr>
            <a:r>
              <a:rPr lang="en-US" sz="1000" dirty="0">
                <a:solidFill>
                  <a:srgbClr val="607083"/>
                </a:solidFill>
              </a:rPr>
              <a:t>Pyflate speedup</a:t>
            </a:r>
            <a:endParaRPr lang="en-US" sz="1000" dirty="0"/>
          </a:p>
        </p:txBody>
      </p:sp>
      <p:sp>
        <p:nvSpPr>
          <p:cNvPr id="20" name="Text 18"/>
          <p:cNvSpPr/>
          <p:nvPr/>
        </p:nvSpPr>
        <p:spPr>
          <a:xfrm>
            <a:off x="9509760" y="1572768"/>
            <a:ext cx="1737360" cy="411480"/>
          </a:xfrm>
          <a:prstGeom prst="rect">
            <a:avLst/>
          </a:prstGeom>
          <a:noFill/>
          <a:ln/>
        </p:spPr>
        <p:txBody>
          <a:bodyPr wrap="square" lIns="0" tIns="0" rIns="0" bIns="0" rtlCol="0" anchor="ctr"/>
          <a:lstStyle/>
          <a:p>
            <a:pPr marL="0" indent="0" algn="ctr">
              <a:buNone/>
            </a:pPr>
            <a:r>
              <a:rPr lang="en-US" sz="2500" b="1" dirty="0">
                <a:solidFill>
                  <a:srgbClr val="3D7A5F"/>
                </a:solidFill>
              </a:rPr>
              <a:t>57.3%</a:t>
            </a:r>
            <a:endParaRPr lang="en-US" sz="2500" dirty="0"/>
          </a:p>
        </p:txBody>
      </p:sp>
      <p:sp>
        <p:nvSpPr>
          <p:cNvPr id="21" name="Text 19"/>
          <p:cNvSpPr/>
          <p:nvPr/>
        </p:nvSpPr>
        <p:spPr>
          <a:xfrm>
            <a:off x="9509760" y="2011680"/>
            <a:ext cx="1737360" cy="256032"/>
          </a:xfrm>
          <a:prstGeom prst="rect">
            <a:avLst/>
          </a:prstGeom>
          <a:noFill/>
          <a:ln/>
        </p:spPr>
        <p:txBody>
          <a:bodyPr wrap="square" lIns="0" tIns="0" rIns="0" bIns="0" rtlCol="0" anchor="ctr"/>
          <a:lstStyle/>
          <a:p>
            <a:pPr marL="0" indent="0" algn="ctr">
              <a:buNone/>
            </a:pPr>
            <a:r>
              <a:rPr lang="en-US" sz="1000" dirty="0">
                <a:solidFill>
                  <a:srgbClr val="607083"/>
                </a:solidFill>
              </a:rPr>
              <a:t>Pyflate reduction</a:t>
            </a:r>
            <a:endParaRPr lang="en-US" sz="1000" dirty="0"/>
          </a:p>
        </p:txBody>
      </p:sp>
      <p:sp>
        <p:nvSpPr>
          <p:cNvPr id="22" name="Text 20"/>
          <p:cNvSpPr/>
          <p:nvPr/>
        </p:nvSpPr>
        <p:spPr>
          <a:xfrm>
            <a:off x="7589520" y="2926080"/>
            <a:ext cx="1737360" cy="411480"/>
          </a:xfrm>
          <a:prstGeom prst="rect">
            <a:avLst/>
          </a:prstGeom>
          <a:noFill/>
          <a:ln/>
        </p:spPr>
        <p:txBody>
          <a:bodyPr wrap="square" lIns="0" tIns="0" rIns="0" bIns="0" rtlCol="0" anchor="ctr"/>
          <a:lstStyle/>
          <a:p>
            <a:pPr marL="0" indent="0" algn="ctr">
              <a:buNone/>
            </a:pPr>
            <a:r>
              <a:rPr lang="en-US" sz="2500" b="1" dirty="0">
                <a:solidFill>
                  <a:srgbClr val="17324D"/>
                </a:solidFill>
              </a:rPr>
              <a:t>3.90×</a:t>
            </a:r>
            <a:endParaRPr lang="en-US" sz="2500" dirty="0"/>
          </a:p>
        </p:txBody>
      </p:sp>
      <p:sp>
        <p:nvSpPr>
          <p:cNvPr id="23" name="Text 21"/>
          <p:cNvSpPr/>
          <p:nvPr/>
        </p:nvSpPr>
        <p:spPr>
          <a:xfrm>
            <a:off x="7589520" y="3364992"/>
            <a:ext cx="1737360" cy="256032"/>
          </a:xfrm>
          <a:prstGeom prst="rect">
            <a:avLst/>
          </a:prstGeom>
          <a:noFill/>
          <a:ln/>
        </p:spPr>
        <p:txBody>
          <a:bodyPr wrap="square" lIns="0" tIns="0" rIns="0" bIns="0" rtlCol="0" anchor="ctr"/>
          <a:lstStyle/>
          <a:p>
            <a:pPr marL="0" indent="0" algn="ctr">
              <a:buNone/>
            </a:pPr>
            <a:r>
              <a:rPr lang="en-US" sz="1000" dirty="0">
                <a:solidFill>
                  <a:srgbClr val="607083"/>
                </a:solidFill>
              </a:rPr>
              <a:t>MDP speedup</a:t>
            </a:r>
            <a:endParaRPr lang="en-US" sz="1000" dirty="0"/>
          </a:p>
        </p:txBody>
      </p:sp>
      <p:sp>
        <p:nvSpPr>
          <p:cNvPr id="24" name="Text 22"/>
          <p:cNvSpPr/>
          <p:nvPr/>
        </p:nvSpPr>
        <p:spPr>
          <a:xfrm>
            <a:off x="9509760" y="2926080"/>
            <a:ext cx="1737360" cy="411480"/>
          </a:xfrm>
          <a:prstGeom prst="rect">
            <a:avLst/>
          </a:prstGeom>
          <a:noFill/>
          <a:ln/>
        </p:spPr>
        <p:txBody>
          <a:bodyPr wrap="square" lIns="0" tIns="0" rIns="0" bIns="0" rtlCol="0" anchor="ctr"/>
          <a:lstStyle/>
          <a:p>
            <a:pPr marL="0" indent="0" algn="ctr">
              <a:buNone/>
            </a:pPr>
            <a:r>
              <a:rPr lang="en-US" sz="2500" b="1" dirty="0">
                <a:solidFill>
                  <a:srgbClr val="3D7A5F"/>
                </a:solidFill>
              </a:rPr>
              <a:t>74.3%</a:t>
            </a:r>
            <a:endParaRPr lang="en-US" sz="2500" dirty="0"/>
          </a:p>
        </p:txBody>
      </p:sp>
      <p:sp>
        <p:nvSpPr>
          <p:cNvPr id="25" name="Text 23"/>
          <p:cNvSpPr/>
          <p:nvPr/>
        </p:nvSpPr>
        <p:spPr>
          <a:xfrm>
            <a:off x="9509760" y="3364992"/>
            <a:ext cx="1737360" cy="256032"/>
          </a:xfrm>
          <a:prstGeom prst="rect">
            <a:avLst/>
          </a:prstGeom>
          <a:noFill/>
          <a:ln/>
        </p:spPr>
        <p:txBody>
          <a:bodyPr wrap="square" lIns="0" tIns="0" rIns="0" bIns="0" rtlCol="0" anchor="ctr"/>
          <a:lstStyle/>
          <a:p>
            <a:pPr marL="0" indent="0" algn="ctr">
              <a:buNone/>
            </a:pPr>
            <a:r>
              <a:rPr lang="en-US" sz="1000" dirty="0">
                <a:solidFill>
                  <a:srgbClr val="607083"/>
                </a:solidFill>
              </a:rPr>
              <a:t>MDP reduction</a:t>
            </a:r>
            <a:endParaRPr lang="en-US" sz="1000" dirty="0"/>
          </a:p>
        </p:txBody>
      </p:sp>
      <p:sp>
        <p:nvSpPr>
          <p:cNvPr id="26" name="Text 24"/>
          <p:cNvSpPr/>
          <p:nvPr/>
        </p:nvSpPr>
        <p:spPr>
          <a:xfrm>
            <a:off x="7589520" y="4370832"/>
            <a:ext cx="3749040" cy="1188720"/>
          </a:xfrm>
          <a:prstGeom prst="rect">
            <a:avLst/>
          </a:prstGeom>
          <a:noFill/>
          <a:ln/>
        </p:spPr>
        <p:txBody>
          <a:bodyPr wrap="square" lIns="254" tIns="254" rIns="254" bIns="254" rtlCol="0" anchor="t">
            <a:normAutofit lnSpcReduction="10000"/>
          </a:bodyPr>
          <a:lstStyle/>
          <a:p>
            <a:pPr marL="177800" indent="-177800">
              <a:buSzPct val="100000"/>
              <a:buChar char="•"/>
            </a:pPr>
            <a:r>
              <a:rPr lang="en-US" sz="1350" dirty="0">
                <a:solidFill>
                  <a:srgbClr val="1F2937"/>
                </a:solidFill>
                <a:latin typeface="Aptos" pitchFamily="34" charset="0"/>
                <a:ea typeface="Aptos" pitchFamily="34" charset="-122"/>
                <a:cs typeface="Aptos" pitchFamily="34" charset="-120"/>
              </a:rPr>
              <a:t>Both optimized implementations preserve tested outputs</a:t>
            </a:r>
            <a:endParaRPr lang="en-US" sz="1350" dirty="0"/>
          </a:p>
          <a:p>
            <a:pPr marL="177800" indent="-177800">
              <a:buSzPct val="100000"/>
              <a:buChar char="•"/>
            </a:pPr>
            <a:r>
              <a:rPr lang="en-US" sz="1350" dirty="0">
                <a:solidFill>
                  <a:srgbClr val="1F2937"/>
                </a:solidFill>
                <a:latin typeface="Aptos" pitchFamily="34" charset="0"/>
                <a:ea typeface="Aptos" pitchFamily="34" charset="-122"/>
                <a:cs typeface="Aptos" pitchFamily="34" charset="-120"/>
              </a:rPr>
              <a:t>perf counters show substantially fewer instructions and cycles</a:t>
            </a:r>
            <a:endParaRPr lang="en-US" sz="1350" dirty="0"/>
          </a:p>
          <a:p>
            <a:pPr marL="177800" indent="-177800">
              <a:buSzPct val="100000"/>
              <a:buChar char="•"/>
            </a:pPr>
            <a:r>
              <a:rPr lang="en-US" sz="1350" dirty="0">
                <a:solidFill>
                  <a:srgbClr val="1F2937"/>
                </a:solidFill>
                <a:latin typeface="Aptos" pitchFamily="34" charset="0"/>
                <a:ea typeface="Aptos" pitchFamily="34" charset="-122"/>
                <a:cs typeface="Aptos" pitchFamily="34" charset="-120"/>
              </a:rPr>
              <a:t>Claims apply to these workloads and this environment</a:t>
            </a:r>
            <a:endParaRPr lang="en-US" sz="1350" dirty="0"/>
          </a:p>
        </p:txBody>
      </p:sp>
      <p:sp>
        <p:nvSpPr>
          <p:cNvPr id="27"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Hardware Accelerator on </a:t>
            </a:r>
            <a:r>
              <a:rPr lang="en-US" sz="2600" b="1" dirty="0" err="1">
                <a:solidFill>
                  <a:srgbClr val="17324D"/>
                </a:solidFill>
                <a:latin typeface="Aptos Display" pitchFamily="34" charset="0"/>
                <a:ea typeface="Aptos Display" pitchFamily="34" charset="-122"/>
                <a:cs typeface="Aptos Display" pitchFamily="34" charset="-120"/>
              </a:rPr>
              <a:t>Pyflate</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4" name="Text 2"/>
          <p:cNvSpPr/>
          <p:nvPr/>
        </p:nvSpPr>
        <p:spPr>
          <a:xfrm>
            <a:off x="594360" y="1024128"/>
            <a:ext cx="10789920" cy="274320"/>
          </a:xfrm>
          <a:prstGeom prst="rect">
            <a:avLst/>
          </a:prstGeom>
          <a:noFill/>
          <a:ln/>
        </p:spPr>
        <p:txBody>
          <a:bodyPr wrap="square" lIns="0" tIns="0" rIns="0" bIns="0" rtlCol="0" anchor="ctr"/>
          <a:lstStyle/>
          <a:p>
            <a:pPr marL="0" indent="0">
              <a:buNone/>
            </a:pPr>
            <a:r>
              <a:rPr lang="en-US" sz="1150" dirty="0">
                <a:solidFill>
                  <a:srgbClr val="607083"/>
                </a:solidFill>
              </a:rPr>
              <a:t>Why accelerate Pyflate Huffman decoding?</a:t>
            </a:r>
            <a:endParaRPr lang="en-US" sz="1150" dirty="0"/>
          </a:p>
        </p:txBody>
      </p:sp>
      <p:sp>
        <p:nvSpPr>
          <p:cNvPr id="5" name="Text 3"/>
          <p:cNvSpPr/>
          <p:nvPr/>
        </p:nvSpPr>
        <p:spPr>
          <a:xfrm>
            <a:off x="822960" y="1417320"/>
            <a:ext cx="5943600" cy="2834640"/>
          </a:xfrm>
          <a:prstGeom prst="rect">
            <a:avLst/>
          </a:prstGeom>
          <a:noFill/>
          <a:ln/>
        </p:spPr>
        <p:txBody>
          <a:bodyPr wrap="square" lIns="254" tIns="254" rIns="254" bIns="254" rtlCol="0" anchor="t">
            <a:normAutofit/>
          </a:bodyPr>
          <a:lstStyle/>
          <a:p>
            <a:pPr marL="177800" indent="-177800">
              <a:buSzPct val="100000"/>
              <a:buFontTx/>
              <a:buChar char="•"/>
            </a:pPr>
            <a:r>
              <a:rPr lang="en-US" dirty="0"/>
              <a:t>After software optimization, Huffman decoding remains a major </a:t>
            </a:r>
            <a:r>
              <a:rPr lang="en-US" dirty="0" err="1"/>
              <a:t>Pyflate</a:t>
            </a:r>
            <a:r>
              <a:rPr lang="en-US" dirty="0"/>
              <a:t> cost</a:t>
            </a:r>
          </a:p>
          <a:p>
            <a:pPr marL="177800" indent="-177800">
              <a:buSzPct val="100000"/>
              <a:buFontTx/>
              <a:buChar char="•"/>
            </a:pPr>
            <a:r>
              <a:rPr lang="en-US" dirty="0"/>
              <a:t>Approximately 51% of optimized </a:t>
            </a:r>
            <a:r>
              <a:rPr lang="en-US" dirty="0" err="1"/>
              <a:t>Pyflate</a:t>
            </a:r>
            <a:r>
              <a:rPr lang="en-US" dirty="0"/>
              <a:t> profile</a:t>
            </a:r>
          </a:p>
          <a:p>
            <a:pPr marL="177800" indent="-177800">
              <a:buSzPct val="100000"/>
              <a:buFontTx/>
              <a:buChar char="•"/>
            </a:pPr>
            <a:r>
              <a:rPr lang="en-US" dirty="0"/>
              <a:t>Accelerator targets </a:t>
            </a:r>
            <a:r>
              <a:rPr lang="en-US" b="1" dirty="0"/>
              <a:t>Huffman decoding only</a:t>
            </a:r>
            <a:endParaRPr lang="" b="1" dirty="0"/>
          </a:p>
          <a:p>
            <a:pPr marL="177800" indent="-177800">
              <a:buSzPct val="100000"/>
              <a:buFontTx/>
              <a:buChar char="•"/>
            </a:pPr>
            <a:r>
              <a:rPr lang="" dirty="0"/>
              <a:t>Operation consists mainly of:</a:t>
            </a:r>
            <a:endParaRPr lang="en-US" sz="1620" b="1" dirty="0">
              <a:solidFill>
                <a:srgbClr val="1F2937"/>
              </a:solidFill>
              <a:latin typeface="Aptos" pitchFamily="34" charset="0"/>
            </a:endParaRPr>
          </a:p>
          <a:p>
            <a:pPr marL="635000" lvl="1" indent="-177800">
              <a:buSzPct val="100000"/>
              <a:buFontTx/>
              <a:buChar char="•"/>
            </a:pPr>
            <a:r>
              <a:rPr lang="en-US" dirty="0"/>
              <a:t>bit extraction </a:t>
            </a:r>
          </a:p>
          <a:p>
            <a:pPr marL="635000" lvl="1" indent="-177800">
              <a:buSzPct val="100000"/>
              <a:buFontTx/>
              <a:buChar char="•"/>
            </a:pPr>
            <a:r>
              <a:rPr lang="en-US" dirty="0"/>
              <a:t>shifts </a:t>
            </a:r>
          </a:p>
          <a:p>
            <a:pPr marL="635000" lvl="1" indent="-177800">
              <a:buSzPct val="100000"/>
              <a:buFontTx/>
              <a:buChar char="•"/>
            </a:pPr>
            <a:r>
              <a:rPr lang="en-US" dirty="0"/>
              <a:t>comparisons </a:t>
            </a:r>
          </a:p>
          <a:p>
            <a:pPr marL="635000" lvl="1" indent="-177800">
              <a:buSzPct val="100000"/>
              <a:buFontTx/>
              <a:buChar char="•"/>
            </a:pPr>
            <a:r>
              <a:rPr lang="en-US" dirty="0"/>
              <a:t>table lookup</a:t>
            </a:r>
          </a:p>
          <a:p>
            <a:pPr marL="177800" indent="-177800">
              <a:buSzPct val="100000"/>
              <a:buFontTx/>
              <a:buChar char="•"/>
            </a:pPr>
            <a:endParaRPr lang="" dirty="0"/>
          </a:p>
        </p:txBody>
      </p:sp>
      <p:sp>
        <p:nvSpPr>
          <p:cNvPr id="8" name="Text 6"/>
          <p:cNvSpPr/>
          <p:nvPr/>
        </p:nvSpPr>
        <p:spPr>
          <a:xfrm>
            <a:off x="7498080" y="1463040"/>
            <a:ext cx="2834640" cy="228600"/>
          </a:xfrm>
          <a:prstGeom prst="rect">
            <a:avLst/>
          </a:prstGeom>
          <a:noFill/>
          <a:ln/>
        </p:spPr>
        <p:txBody>
          <a:bodyPr wrap="square" lIns="0" tIns="0" rIns="0" bIns="0" rtlCol="0" anchor="ctr"/>
          <a:lstStyle/>
          <a:p>
            <a:pPr marL="0" indent="0">
              <a:buNone/>
            </a:pPr>
            <a:r>
              <a:rPr lang="en-US" sz="1200" b="1" dirty="0">
                <a:solidFill>
                  <a:srgbClr val="58799C"/>
                </a:solidFill>
              </a:rPr>
              <a:t>Optimized Pyflate time</a:t>
            </a:r>
            <a:endParaRPr lang="en-US" sz="1200" dirty="0"/>
          </a:p>
        </p:txBody>
      </p:sp>
      <p:sp>
        <p:nvSpPr>
          <p:cNvPr id="9" name="Shape 7"/>
          <p:cNvSpPr/>
          <p:nvPr/>
        </p:nvSpPr>
        <p:spPr>
          <a:xfrm>
            <a:off x="7498080" y="1965960"/>
            <a:ext cx="1920240" cy="914400"/>
          </a:xfrm>
          <a:prstGeom prst="rect">
            <a:avLst/>
          </a:prstGeom>
          <a:solidFill>
            <a:srgbClr val="58799C"/>
          </a:solidFill>
          <a:ln w="12700">
            <a:solidFill>
              <a:srgbClr val="58799C">
                <a:alpha val="0"/>
              </a:srgbClr>
            </a:solidFill>
            <a:prstDash val="solid"/>
          </a:ln>
        </p:spPr>
        <p:txBody>
          <a:bodyPr/>
          <a:lstStyle/>
          <a:p>
            <a:endParaRPr lang="LID4096"/>
          </a:p>
        </p:txBody>
      </p:sp>
      <p:sp>
        <p:nvSpPr>
          <p:cNvPr id="10" name="Shape 8"/>
          <p:cNvSpPr/>
          <p:nvPr/>
        </p:nvSpPr>
        <p:spPr>
          <a:xfrm>
            <a:off x="9418320" y="1965960"/>
            <a:ext cx="1828800" cy="914400"/>
          </a:xfrm>
          <a:prstGeom prst="rect">
            <a:avLst/>
          </a:prstGeom>
          <a:solidFill>
            <a:srgbClr val="F3F6FA"/>
          </a:solidFill>
          <a:ln w="12700">
            <a:solidFill>
              <a:srgbClr val="D6DEE8"/>
            </a:solidFill>
            <a:prstDash val="solid"/>
          </a:ln>
        </p:spPr>
        <p:txBody>
          <a:bodyPr/>
          <a:lstStyle/>
          <a:p>
            <a:endParaRPr lang="LID4096"/>
          </a:p>
        </p:txBody>
      </p:sp>
      <p:sp>
        <p:nvSpPr>
          <p:cNvPr id="11" name="Text 9"/>
          <p:cNvSpPr/>
          <p:nvPr/>
        </p:nvSpPr>
        <p:spPr>
          <a:xfrm>
            <a:off x="7498080" y="2167128"/>
            <a:ext cx="1920240" cy="502920"/>
          </a:xfrm>
          <a:prstGeom prst="rect">
            <a:avLst/>
          </a:prstGeom>
          <a:noFill/>
          <a:ln/>
        </p:spPr>
        <p:txBody>
          <a:bodyPr wrap="square" lIns="0" tIns="0" rIns="0" bIns="0" rtlCol="0" anchor="ctr"/>
          <a:lstStyle/>
          <a:p>
            <a:pPr marL="0" indent="0" algn="ctr">
              <a:buNone/>
            </a:pPr>
            <a:r>
              <a:rPr lang="en-US" sz="1500" b="1" dirty="0">
                <a:solidFill>
                  <a:srgbClr val="FFFFFF"/>
                </a:solidFill>
              </a:rPr>
              <a:t>51%</a:t>
            </a:r>
            <a:endParaRPr lang="en-US" sz="1500" dirty="0"/>
          </a:p>
          <a:p>
            <a:pPr marL="0" indent="0" algn="ctr">
              <a:buNone/>
            </a:pPr>
            <a:r>
              <a:rPr lang="en-US" sz="1500" b="1" dirty="0">
                <a:solidFill>
                  <a:srgbClr val="FFFFFF"/>
                </a:solidFill>
              </a:rPr>
              <a:t>Huffman</a:t>
            </a:r>
            <a:endParaRPr lang="en-US" sz="1500" dirty="0"/>
          </a:p>
        </p:txBody>
      </p:sp>
      <p:sp>
        <p:nvSpPr>
          <p:cNvPr id="12" name="Text 10"/>
          <p:cNvSpPr/>
          <p:nvPr/>
        </p:nvSpPr>
        <p:spPr>
          <a:xfrm>
            <a:off x="9418320" y="2167128"/>
            <a:ext cx="1828800" cy="502920"/>
          </a:xfrm>
          <a:prstGeom prst="rect">
            <a:avLst/>
          </a:prstGeom>
          <a:noFill/>
          <a:ln/>
        </p:spPr>
        <p:txBody>
          <a:bodyPr wrap="square" lIns="0" tIns="0" rIns="0" bIns="0" rtlCol="0" anchor="ctr"/>
          <a:lstStyle/>
          <a:p>
            <a:pPr marL="0" indent="0" algn="ctr">
              <a:buNone/>
            </a:pPr>
            <a:r>
              <a:rPr lang="en-US" sz="1500" b="1" dirty="0">
                <a:solidFill>
                  <a:srgbClr val="1F2937"/>
                </a:solidFill>
              </a:rPr>
              <a:t>49%</a:t>
            </a:r>
            <a:endParaRPr lang="en-US" sz="1500" dirty="0"/>
          </a:p>
          <a:p>
            <a:pPr marL="0" indent="0" algn="ctr">
              <a:buNone/>
            </a:pPr>
            <a:r>
              <a:rPr lang="en-US" sz="1500" b="1" dirty="0">
                <a:solidFill>
                  <a:srgbClr val="1F2937"/>
                </a:solidFill>
              </a:rPr>
              <a:t>remaining</a:t>
            </a:r>
            <a:endParaRPr lang="en-US" sz="1500" dirty="0"/>
          </a:p>
        </p:txBody>
      </p:sp>
      <p:sp>
        <p:nvSpPr>
          <p:cNvPr id="13" name="Text 11"/>
          <p:cNvSpPr/>
          <p:nvPr/>
        </p:nvSpPr>
        <p:spPr>
          <a:xfrm>
            <a:off x="7498080" y="3337560"/>
            <a:ext cx="3657600" cy="640080"/>
          </a:xfrm>
          <a:prstGeom prst="rect">
            <a:avLst/>
          </a:prstGeom>
          <a:noFill/>
          <a:ln/>
        </p:spPr>
        <p:txBody>
          <a:bodyPr wrap="square" lIns="0" tIns="0" rIns="0" bIns="0" rtlCol="0" anchor="ctr"/>
          <a:lstStyle/>
          <a:p>
            <a:pPr marL="0" indent="0">
              <a:buNone/>
            </a:pPr>
            <a:r>
              <a:rPr lang="en-US" sz="1300" dirty="0">
                <a:solidFill>
                  <a:srgbClr val="1F2937"/>
                </a:solidFill>
              </a:rPr>
              <a:t>Amdahl limit: whole-program gain is bounded by the remaining software work.</a:t>
            </a:r>
            <a:endParaRPr lang="en-US" sz="1300" dirty="0"/>
          </a:p>
        </p:txBody>
      </p:sp>
      <p:sp>
        <p:nvSpPr>
          <p:cNvPr id="25"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84048"/>
            <a:ext cx="10835640" cy="411480"/>
          </a:xfrm>
          <a:prstGeom prst="rect">
            <a:avLst/>
          </a:prstGeom>
          <a:noFill/>
          <a:ln/>
        </p:spPr>
        <p:txBody>
          <a:bodyPr wrap="square" lIns="0" tIns="0" rIns="0" bIns="0" rtlCol="0" anchor="ctr"/>
          <a:lstStyle/>
          <a:p>
            <a:pPr marL="0" indent="0">
              <a:buNone/>
            </a:pPr>
            <a:r>
              <a:rPr lang="en-US" sz="2600" b="1" dirty="0">
                <a:solidFill>
                  <a:srgbClr val="17324D"/>
                </a:solidFill>
                <a:latin typeface="Aptos Display" pitchFamily="34" charset="0"/>
                <a:ea typeface="Aptos Display" pitchFamily="34" charset="-122"/>
                <a:cs typeface="Aptos Display" pitchFamily="34" charset="-120"/>
              </a:rPr>
              <a:t>Huffman Hardware Accelerator</a:t>
            </a:r>
            <a:endParaRPr lang="en-US" sz="2600" dirty="0"/>
          </a:p>
        </p:txBody>
      </p:sp>
      <p:sp>
        <p:nvSpPr>
          <p:cNvPr id="3" name="Shape 1"/>
          <p:cNvSpPr/>
          <p:nvPr/>
        </p:nvSpPr>
        <p:spPr>
          <a:xfrm>
            <a:off x="594360" y="932688"/>
            <a:ext cx="1828800" cy="0"/>
          </a:xfrm>
          <a:prstGeom prst="line">
            <a:avLst/>
          </a:prstGeom>
          <a:noFill/>
          <a:ln w="27940">
            <a:solidFill>
              <a:srgbClr val="58799C"/>
            </a:solidFill>
            <a:prstDash val="solid"/>
          </a:ln>
        </p:spPr>
        <p:txBody>
          <a:bodyPr/>
          <a:lstStyle/>
          <a:p>
            <a:endParaRPr lang="LID4096"/>
          </a:p>
        </p:txBody>
      </p:sp>
      <p:sp>
        <p:nvSpPr>
          <p:cNvPr id="29" name="Text 27"/>
          <p:cNvSpPr/>
          <p:nvPr/>
        </p:nvSpPr>
        <p:spPr>
          <a:xfrm>
            <a:off x="868680" y="4846321"/>
            <a:ext cx="2103120" cy="228600"/>
          </a:xfrm>
          <a:prstGeom prst="rect">
            <a:avLst/>
          </a:prstGeom>
          <a:noFill/>
          <a:ln/>
        </p:spPr>
        <p:txBody>
          <a:bodyPr wrap="square" lIns="0" tIns="0" rIns="0" bIns="0" rtlCol="0" anchor="ctr"/>
          <a:lstStyle/>
          <a:p>
            <a:pPr marL="0" indent="0">
              <a:buNone/>
            </a:pPr>
            <a:r>
              <a:rPr lang="en-US" sz="1200" b="1" dirty="0">
                <a:solidFill>
                  <a:srgbClr val="58799C"/>
                </a:solidFill>
              </a:rPr>
              <a:t>Simulation result</a:t>
            </a:r>
            <a:endParaRPr lang="en-US" sz="1200" dirty="0"/>
          </a:p>
        </p:txBody>
      </p:sp>
      <p:sp>
        <p:nvSpPr>
          <p:cNvPr id="30" name="Text 28"/>
          <p:cNvSpPr/>
          <p:nvPr/>
        </p:nvSpPr>
        <p:spPr>
          <a:xfrm>
            <a:off x="914400" y="5239513"/>
            <a:ext cx="4983480" cy="1143000"/>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F2937"/>
                </a:solidFill>
                <a:latin typeface="Aptos" pitchFamily="34" charset="0"/>
                <a:ea typeface="Aptos" pitchFamily="34" charset="-122"/>
                <a:cs typeface="Aptos" pitchFamily="34" charset="-120"/>
              </a:rPr>
              <a:t>148,271 symbols decoded</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148,272 cycles in favorable real-block simulation</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≈1 symbol/cycle when input/output are continuously available</a:t>
            </a:r>
            <a:endParaRPr lang="en-US" sz="1400" dirty="0"/>
          </a:p>
        </p:txBody>
      </p:sp>
      <p:sp>
        <p:nvSpPr>
          <p:cNvPr id="31" name="Text 29"/>
          <p:cNvSpPr/>
          <p:nvPr/>
        </p:nvSpPr>
        <p:spPr>
          <a:xfrm>
            <a:off x="6583680" y="4846321"/>
            <a:ext cx="2011680" cy="228600"/>
          </a:xfrm>
          <a:prstGeom prst="rect">
            <a:avLst/>
          </a:prstGeom>
          <a:noFill/>
          <a:ln/>
        </p:spPr>
        <p:txBody>
          <a:bodyPr wrap="square" lIns="0" tIns="0" rIns="0" bIns="0" rtlCol="0" anchor="ctr"/>
          <a:lstStyle/>
          <a:p>
            <a:pPr marL="0" indent="0">
              <a:buNone/>
            </a:pPr>
            <a:r>
              <a:rPr lang="en-US" sz="1200" b="1" dirty="0">
                <a:solidFill>
                  <a:srgbClr val="58799C"/>
                </a:solidFill>
              </a:rPr>
              <a:t>Important scope</a:t>
            </a:r>
            <a:endParaRPr lang="en-US" sz="1200" dirty="0"/>
          </a:p>
        </p:txBody>
      </p:sp>
      <p:sp>
        <p:nvSpPr>
          <p:cNvPr id="32" name="Text 30"/>
          <p:cNvSpPr/>
          <p:nvPr/>
        </p:nvSpPr>
        <p:spPr>
          <a:xfrm>
            <a:off x="6629400" y="5239513"/>
            <a:ext cx="4846320" cy="1325880"/>
          </a:xfrm>
          <a:prstGeom prst="rect">
            <a:avLst/>
          </a:prstGeom>
          <a:noFill/>
          <a:ln/>
        </p:spPr>
        <p:txBody>
          <a:bodyPr wrap="square" lIns="254" tIns="254" rIns="254" bIns="254" rtlCol="0" anchor="t">
            <a:normAutofit/>
          </a:bodyPr>
          <a:lstStyle/>
          <a:p>
            <a:pPr marL="177800" indent="-177800">
              <a:buSzPct val="100000"/>
              <a:buChar char="•"/>
            </a:pPr>
            <a:r>
              <a:rPr lang="en-US" sz="1370" dirty="0">
                <a:solidFill>
                  <a:srgbClr val="1F2937"/>
                </a:solidFill>
                <a:latin typeface="Aptos" pitchFamily="34" charset="0"/>
                <a:ea typeface="Aptos" pitchFamily="34" charset="-122"/>
                <a:cs typeface="Aptos" pitchFamily="34" charset="-120"/>
              </a:rPr>
              <a:t>Datapath is implemented and simulated</a:t>
            </a:r>
            <a:endParaRPr lang="en-US" sz="1370" dirty="0"/>
          </a:p>
          <a:p>
            <a:pPr marL="177800" indent="-177800">
              <a:buSzPct val="100000"/>
              <a:buChar char="•"/>
            </a:pPr>
            <a:r>
              <a:rPr lang="en-US" sz="1370" dirty="0">
                <a:solidFill>
                  <a:srgbClr val="1F2937"/>
                </a:solidFill>
                <a:latin typeface="Aptos" pitchFamily="34" charset="0"/>
                <a:ea typeface="Aptos" pitchFamily="34" charset="-122"/>
                <a:cs typeface="Aptos" pitchFamily="34" charset="-120"/>
              </a:rPr>
              <a:t>Complete host/software integration is proposed, not measured end-to-end</a:t>
            </a:r>
            <a:endParaRPr lang="en-US" sz="1370" dirty="0"/>
          </a:p>
          <a:p>
            <a:pPr marL="177800" indent="-177800">
              <a:buSzPct val="100000"/>
              <a:buChar char="•"/>
            </a:pPr>
            <a:r>
              <a:rPr lang="en-US" sz="1370" dirty="0">
                <a:solidFill>
                  <a:srgbClr val="1F2937"/>
                </a:solidFill>
                <a:latin typeface="Aptos" pitchFamily="34" charset="0"/>
                <a:ea typeface="Aptos" pitchFamily="34" charset="-122"/>
                <a:cs typeface="Aptos" pitchFamily="34" charset="-120"/>
              </a:rPr>
              <a:t>Table switching, EOB handling and exact stream position need cycle-correct control</a:t>
            </a:r>
            <a:endParaRPr lang="en-US" sz="1370" dirty="0"/>
          </a:p>
        </p:txBody>
      </p:sp>
      <p:sp>
        <p:nvSpPr>
          <p:cNvPr id="33" name="Slide Number Placeholder 0"/>
          <p:cNvSpPr>
            <a:spLocks noGrp="1"/>
          </p:cNvSpPr>
          <p:nvPr>
            <p:ph type="sldNum" sz="quarter" idx="4294967295"/>
          </p:nvPr>
        </p:nvSpPr>
        <p:spPr>
          <a:xfrm>
            <a:off x="11384280" y="6437376"/>
            <a:ext cx="320040" cy="201168"/>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594"/>
                </a:solidFill>
                <a:latin typeface="Aptos"/>
                <a:ea typeface="Aptos"/>
                <a:cs typeface="Aptos"/>
              </a:defRPr>
            </a:lvl1pPr>
          </a:lstStyle>
          <a:p>
            <a:pPr algn="l"/>
            <a:fld id="{F7021451-1387-4CA6-816F-3879F97B5CBC}" type="slidenum">
              <a:rPr lang="en-US" b="0"/>
              <a:t>12</a:t>
            </a:fld>
            <a:endParaRPr lang="en-US"/>
          </a:p>
        </p:txBody>
      </p:sp>
      <p:pic>
        <p:nvPicPr>
          <p:cNvPr id="35" name="Picture 34">
            <a:extLst>
              <a:ext uri="{FF2B5EF4-FFF2-40B4-BE49-F238E27FC236}">
                <a16:creationId xmlns:a16="http://schemas.microsoft.com/office/drawing/2014/main" id="{2F0CE8EF-8678-7FAE-F57E-99BDFE03CFDC}"/>
              </a:ext>
            </a:extLst>
          </p:cNvPr>
          <p:cNvPicPr>
            <a:picLocks noChangeAspect="1"/>
          </p:cNvPicPr>
          <p:nvPr/>
        </p:nvPicPr>
        <p:blipFill>
          <a:blip r:embed="rId3"/>
          <a:srcRect l="2667" t="15600" r="4000" b="21600"/>
          <a:stretch>
            <a:fillRect/>
          </a:stretch>
        </p:blipFill>
        <p:spPr>
          <a:xfrm>
            <a:off x="1169416" y="1231961"/>
            <a:ext cx="9356344" cy="35412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1665</Words>
  <Application>Microsoft Office PowerPoint</Application>
  <PresentationFormat>Widescreen</PresentationFormat>
  <Paragraphs>229</Paragraphs>
  <Slides>12</Slides>
  <Notes>12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Technion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HW/SW Co-Design: Python Optimization and Hardware Acceleration</dc:title>
  <dc:subject>HW/SW Co-design Project Presentation</dc:subject>
  <dc:creator>OpenAI</dc:creator>
  <cp:lastModifiedBy>ido sef</cp:lastModifiedBy>
  <cp:revision>14</cp:revision>
  <dcterms:created xsi:type="dcterms:W3CDTF">2026-09-18T10:29:46Z</dcterms:created>
  <dcterms:modified xsi:type="dcterms:W3CDTF">2026-09-18T12:19:04Z</dcterms:modified>
</cp:coreProperties>
</file>